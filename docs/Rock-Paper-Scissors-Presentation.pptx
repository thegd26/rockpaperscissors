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85fa7b4-031c-b458-0b72-9d13f7b06c33}">
          <p14:sldIdLst>
            <p14:sldId id="256"/>
            <p14:sldId id="257"/>
          </p14:sldIdLst>
        </p14:section>
        <p14:section name="Design" id="{20f0cd46-d5f0-910d-7005-5f73abb89461}">
          <p14:sldIdLst>
            <p14:sldId id="258"/>
            <p14:sldId id="259"/>
          </p14:sldIdLst>
        </p14:section>
        <p14:section name="Run" id="{5cefa2b4-a362-17c5-5aa0-e0090561d0c2}">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a browser-based Rock Paper Scissors game. The backend is written in Java using object-oriented design and served with Spring Boot; the user interface is built with Vue 3. You play against the computer, which can be easy (random) or hard (it learns your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 enters a name, chooses a difficulty and plays rounds by clicking a move. The score and a full history update instantly. On the right is the technology stack: Java for the game logic, Spring Boot to expose it as a REST API, Vue 3 for the user interface, Maven to build it and JUnit to 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click in the browser travels left to right: Vue sends JSON to the GameController, which hands the request to the GameService, which calls Game.playRound(). The Game asks both players for their moves, decides the outcome and updates the score, and the new state goes back to the browser as JSON. The controller only handles HTTP; the service holds business logic; the model holds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Abstraction: Player is an abstract class and MoveStrategy an interface. Encapsulation: the Scoreboard keeps its counts private. Inheritance: HumanPlayer and ComputerPlayer extend Player. Polymorphism: calling chooseMove() runs different code for a human or the computer. Composition: a Game is built from players, a scoreboard and rounds. Strategy pattern: the computer's behaviour is a pluggable object, so new AI levels need no changes elsewhere.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computer opponent uses the Strategy pattern. Easy mode is RandomStrategy. Hard mode is FrequencyStrategy, which counts how often you play each move and plays the move that beats your favourite. To run the project, install Java 17 or newer and Maven, run mvn spring-boot:run in the project folder, and open localhost:8080 in a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57400"/>
            <a:ext cx="8046720" cy="822960"/>
          </a:xfrm>
          <a:prstGeom prst="rect">
            <a:avLst/>
          </a:prstGeom>
          <a:noFill/>
          <a:ln/>
        </p:spPr>
        <p:txBody>
          <a:bodyPr wrap="square" rtlCol="0"/>
          <a:lstStyle>
            <a:lvl1pPr algn="ctr" indent="0" marL="0">
              <a:buNone/>
              <a:defRPr lang="en-US" sz="4400" b="1" dirty="0">
                <a:solidFill>
                  <a:schemeClr val="bg1"/>
                </a:solidFill>
              </a:defRPr>
            </a:lvl1pPr>
          </a:lstStyle>
          <a:p>
            <a:pPr algn="ctr" indent="0" marL="0">
              <a:buNone/>
            </a:pPr>
            <a:endParaRPr lang="en-US" sz="4400" dirty="0"/>
          </a:p>
        </p:txBody>
      </p:sp>
      <p:sp>
        <p:nvSpPr>
          <p:cNvPr id="3" name="Text 0"/>
          <p:cNvSpPr/>
          <p:nvPr>
            <p:ph idx="101" type="body" hasCustomPrompt="1"/>
          </p:nvPr>
        </p:nvSpPr>
        <p:spPr>
          <a:xfrm>
            <a:off x="548640" y="2880360"/>
            <a:ext cx="8046720" cy="457200"/>
          </a:xfrm>
          <a:prstGeom prst="rect">
            <a:avLst/>
          </a:prstGeom>
          <a:noFill/>
          <a:ln/>
        </p:spPr>
        <p:txBody>
          <a:bodyPr wrap="square" rtlCol="0"/>
          <a:lstStyle>
            <a:lvl1pPr algn="ctr" indent="0" marL="0">
              <a:buNone/>
              <a:defRPr lang="en-US" sz="1800" dirty="0">
                <a:solidFill>
                  <a:schemeClr val="accent5"/>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tx2"/>
                </a:solidFill>
              </a:rPr>
              <a:t>Rock Paper Scissors · Java OOP + Spring Boot + Vue 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Rock Paper Scissors · Java OOP + Spring Boot + Vue 3</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3.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ve circle 1"/>
          <p:cNvSpPr/>
          <p:nvPr/>
        </p:nvSpPr>
        <p:spPr>
          <a:xfrm>
            <a:off x="3017520" y="777240"/>
            <a:ext cx="914400" cy="914400"/>
          </a:xfrm>
          <a:prstGeom prst="ellipse">
            <a:avLst/>
          </a:prstGeom>
          <a:solidFill>
            <a:schemeClr val="accent1"/>
          </a:solidFill>
          <a:ln/>
        </p:spPr>
      </p:sp>
      <p:pic>
        <p:nvPicPr>
          <p:cNvPr id="3" name="move emoji 1" descr="Rock">    </p:cNvPr>
          <p:cNvPicPr>
            <a:picLocks noChangeAspect="1"/>
          </p:cNvPicPr>
          <p:nvPr/>
        </p:nvPicPr>
        <p:blipFill>
          <a:blip r:embed="rId1"/>
          <a:stretch>
            <a:fillRect/>
          </a:stretch>
        </p:blipFill>
        <p:spPr>
          <a:xfrm>
            <a:off x="3200400" y="960120"/>
            <a:ext cx="548640" cy="548640"/>
          </a:xfrm>
          <a:prstGeom prst="rect">
            <a:avLst/>
          </a:prstGeom>
        </p:spPr>
      </p:pic>
      <p:sp>
        <p:nvSpPr>
          <p:cNvPr id="4" name="move circle 2"/>
          <p:cNvSpPr/>
          <p:nvPr/>
        </p:nvSpPr>
        <p:spPr>
          <a:xfrm>
            <a:off x="4114800" y="777240"/>
            <a:ext cx="914400" cy="914400"/>
          </a:xfrm>
          <a:prstGeom prst="ellipse">
            <a:avLst/>
          </a:prstGeom>
          <a:solidFill>
            <a:schemeClr val="accent2"/>
          </a:solidFill>
          <a:ln/>
        </p:spPr>
      </p:sp>
      <p:pic>
        <p:nvPicPr>
          <p:cNvPr id="5" name="move emoji 2" descr="Paper">    </p:cNvPr>
          <p:cNvPicPr>
            <a:picLocks noChangeAspect="1"/>
          </p:cNvPicPr>
          <p:nvPr/>
        </p:nvPicPr>
        <p:blipFill>
          <a:blip r:embed="rId2"/>
          <a:stretch>
            <a:fillRect/>
          </a:stretch>
        </p:blipFill>
        <p:spPr>
          <a:xfrm>
            <a:off x="4297680" y="960120"/>
            <a:ext cx="548640" cy="548640"/>
          </a:xfrm>
          <a:prstGeom prst="rect">
            <a:avLst/>
          </a:prstGeom>
        </p:spPr>
      </p:pic>
      <p:sp>
        <p:nvSpPr>
          <p:cNvPr id="6" name="move circle 3"/>
          <p:cNvSpPr/>
          <p:nvPr/>
        </p:nvSpPr>
        <p:spPr>
          <a:xfrm>
            <a:off x="5212080" y="777240"/>
            <a:ext cx="914400" cy="914400"/>
          </a:xfrm>
          <a:prstGeom prst="ellipse">
            <a:avLst/>
          </a:prstGeom>
          <a:solidFill>
            <a:schemeClr val="accent3"/>
          </a:solidFill>
          <a:ln/>
        </p:spPr>
      </p:sp>
      <p:pic>
        <p:nvPicPr>
          <p:cNvPr id="7" name="move emoji 3" descr="Scissors">    </p:cNvPr>
          <p:cNvPicPr>
            <a:picLocks noChangeAspect="1"/>
          </p:cNvPicPr>
          <p:nvPr/>
        </p:nvPicPr>
        <p:blipFill>
          <a:blip r:embed="rId3"/>
          <a:stretch>
            <a:fillRect/>
          </a:stretch>
        </p:blipFill>
        <p:spPr>
          <a:xfrm>
            <a:off x="5394960" y="960120"/>
            <a:ext cx="548640" cy="548640"/>
          </a:xfrm>
          <a:prstGeom prst="rect">
            <a:avLst/>
          </a:prstGeom>
        </p:spPr>
      </p:pic>
      <p:sp>
        <p:nvSpPr>
          <p:cNvPr id="8" name="Text 0"/>
          <p:cNvSpPr/>
          <p:nvPr>
            <p:ph idx="100" type="title" hasCustomPrompt="1"/>
          </p:nvPr>
        </p:nvSpPr>
        <p:spPr>
          <a:xfrm>
            <a:off x="548640" y="2057400"/>
            <a:ext cx="8046720" cy="822960"/>
          </a:xfrm>
          <a:prstGeom prst="rect">
            <a:avLst/>
          </a:prstGeom>
          <a:noFill/>
          <a:ln/>
        </p:spPr>
        <p:txBody>
          <a:bodyPr wrap="square" rtlCol="0" anchor="ctr"/>
          <a:lstStyle/>
          <a:p>
            <a:pPr algn="ctr" indent="0" marL="0">
              <a:buNone/>
            </a:pPr>
            <a:r>
              <a:rPr lang="en-US" sz="4400" b="1" dirty="0">
                <a:solidFill>
                  <a:schemeClr val="bg1"/>
                </a:solidFill>
              </a:rPr>
              <a:t>Rock Paper Scissors</a:t>
            </a:r>
            <a:endParaRPr lang="en-US" sz="4400" dirty="0"/>
          </a:p>
        </p:txBody>
      </p:sp>
      <p:sp>
        <p:nvSpPr>
          <p:cNvPr id="9" name="Text 0"/>
          <p:cNvSpPr/>
          <p:nvPr>
            <p:ph idx="101" type="body" hasCustomPrompt="1"/>
          </p:nvPr>
        </p:nvSpPr>
        <p:spPr>
          <a:xfrm>
            <a:off x="548640" y="2880360"/>
            <a:ext cx="8046720" cy="457200"/>
          </a:xfrm>
          <a:prstGeom prst="rect">
            <a:avLst/>
          </a:prstGeom>
          <a:noFill/>
          <a:ln/>
        </p:spPr>
        <p:txBody>
          <a:bodyPr wrap="square" rtlCol="0" anchor="ctr"/>
          <a:lstStyle/>
          <a:p>
            <a:pPr algn="ctr" indent="0" marL="0">
              <a:buNone/>
            </a:pPr>
            <a:r>
              <a:rPr lang="en-US" sz="1800" dirty="0">
                <a:solidFill>
                  <a:schemeClr val="accent5"/>
                </a:solidFill>
              </a:rPr>
              <a:t>A web game built with Java OOP, Spring Boot and Vue 3</a:t>
            </a:r>
            <a:endParaRPr lang="en-US" sz="1800" dirty="0"/>
          </a:p>
        </p:txBody>
      </p:sp>
      <p:sp>
        <p:nvSpPr>
          <p:cNvPr id="10" name="tech chip Java 17+"/>
          <p:cNvSpPr txBox="1"/>
          <p:nvPr/>
        </p:nvSpPr>
        <p:spPr>
          <a:xfrm>
            <a:off x="891540" y="3794760"/>
            <a:ext cx="132588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Java 17+</a:t>
            </a:r>
            <a:endParaRPr lang="en-US" sz="1300" dirty="0"/>
          </a:p>
        </p:txBody>
      </p:sp>
      <p:sp>
        <p:nvSpPr>
          <p:cNvPr id="11" name="tech chip Spring Boot 3"/>
          <p:cNvSpPr txBox="1"/>
          <p:nvPr/>
        </p:nvSpPr>
        <p:spPr>
          <a:xfrm>
            <a:off x="2400300" y="3794760"/>
            <a:ext cx="132588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Spring Boot 3</a:t>
            </a:r>
            <a:endParaRPr lang="en-US" sz="1300" dirty="0"/>
          </a:p>
        </p:txBody>
      </p:sp>
      <p:sp>
        <p:nvSpPr>
          <p:cNvPr id="12" name="tech chip Vue 3"/>
          <p:cNvSpPr txBox="1"/>
          <p:nvPr/>
        </p:nvSpPr>
        <p:spPr>
          <a:xfrm>
            <a:off x="3909060" y="3794760"/>
            <a:ext cx="132588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Vue 3</a:t>
            </a:r>
            <a:endParaRPr lang="en-US" sz="1300" dirty="0"/>
          </a:p>
        </p:txBody>
      </p:sp>
      <p:sp>
        <p:nvSpPr>
          <p:cNvPr id="13" name="tech chip Maven"/>
          <p:cNvSpPr txBox="1"/>
          <p:nvPr/>
        </p:nvSpPr>
        <p:spPr>
          <a:xfrm>
            <a:off x="5417820" y="3794760"/>
            <a:ext cx="132588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Maven</a:t>
            </a:r>
            <a:endParaRPr lang="en-US" sz="1300" dirty="0"/>
          </a:p>
        </p:txBody>
      </p:sp>
      <p:sp>
        <p:nvSpPr>
          <p:cNvPr id="14" name="tech chip JUnit 5"/>
          <p:cNvSpPr txBox="1"/>
          <p:nvPr/>
        </p:nvSpPr>
        <p:spPr>
          <a:xfrm>
            <a:off x="6926580" y="3794760"/>
            <a:ext cx="1325880" cy="384048"/>
          </a:xfrm>
          <a:prstGeom prst="roundRect">
            <a:avLst>
              <a:gd name="adj" fmla="val 50000"/>
            </a:avLst>
          </a:prstGeom>
          <a:solidFill>
            <a:schemeClr val="tx2"/>
          </a:solidFill>
          <a:ln/>
        </p:spPr>
        <p:txBody>
          <a:bodyPr wrap="square" lIns="0" tIns="0" rIns="0" bIns="0" rtlCol="0" anchor="ctr"/>
          <a:lstStyle/>
          <a:p>
            <a:pPr algn="ctr" indent="0" marL="0">
              <a:buNone/>
            </a:pPr>
            <a:r>
              <a:rPr lang="en-US" sz="1300" b="1" dirty="0">
                <a:solidFill>
                  <a:schemeClr val="bg1"/>
                </a:solidFill>
              </a:rPr>
              <a:t>JUnit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What the project does</a:t>
            </a:r>
            <a:endParaRPr lang="en-US" sz="3200" dirty="0"/>
          </a:p>
        </p:txBody>
      </p:sp>
      <p:sp>
        <p:nvSpPr>
          <p:cNvPr id="3" name="Set up a game circle"/>
          <p:cNvSpPr/>
          <p:nvPr/>
        </p:nvSpPr>
        <p:spPr>
          <a:xfrm>
            <a:off x="457200" y="1188720"/>
            <a:ext cx="566928" cy="566928"/>
          </a:xfrm>
          <a:prstGeom prst="ellipse">
            <a:avLst/>
          </a:prstGeom>
          <a:solidFill>
            <a:schemeClr val="accent4"/>
          </a:solidFill>
          <a:ln/>
        </p:spPr>
      </p:sp>
      <p:pic>
        <p:nvPicPr>
          <p:cNvPr id="4" name="Set up a game icon" descr="Set up a game">    </p:cNvPr>
          <p:cNvPicPr>
            <a:picLocks noChangeAspect="1"/>
          </p:cNvPicPr>
          <p:nvPr/>
        </p:nvPicPr>
        <p:blipFill>
          <a:blip r:embed="rId1"/>
          <a:stretch>
            <a:fillRect/>
          </a:stretch>
        </p:blipFill>
        <p:spPr>
          <a:xfrm>
            <a:off x="598932" y="1330452"/>
            <a:ext cx="283464" cy="283464"/>
          </a:xfrm>
          <a:prstGeom prst="rect">
            <a:avLst/>
          </a:prstGeom>
        </p:spPr>
      </p:pic>
      <p:sp>
        <p:nvSpPr>
          <p:cNvPr id="5" name="feature 1"/>
          <p:cNvSpPr txBox="1"/>
          <p:nvPr/>
        </p:nvSpPr>
        <p:spPr>
          <a:xfrm>
            <a:off x="1188720" y="1133856"/>
            <a:ext cx="3291840" cy="685800"/>
          </a:xfrm>
          <a:prstGeom prst="rect">
            <a:avLst/>
          </a:prstGeom>
          <a:noFill/>
          <a:ln/>
        </p:spPr>
        <p:txBody>
          <a:bodyPr wrap="square" lIns="0" tIns="0" rIns="0" bIns="0" rtlCol="0" anchor="ctr"/>
          <a:lstStyle/>
          <a:p>
            <a:pPr indent="0" marL="0">
              <a:buNone/>
            </a:pPr>
            <a:r>
              <a:rPr lang="en-US" sz="1600" b="1" dirty="0">
                <a:solidFill>
                  <a:schemeClr val="tx1"/>
                </a:solidFill>
              </a:rPr>
              <a:t>Set up a game</a:t>
            </a:r>
            <a:endParaRPr lang="en-US" sz="1600" dirty="0"/>
          </a:p>
          <a:p>
            <a:pPr indent="0" marL="0">
              <a:buNone/>
            </a:pPr>
            <a:r>
              <a:rPr lang="en-US" sz="1400" dirty="0">
                <a:solidFill>
                  <a:schemeClr val="tx2"/>
                </a:solidFill>
              </a:rPr>
              <a:t>Enter your name and pick Easy or Hard</a:t>
            </a:r>
            <a:endParaRPr lang="en-US" sz="1600" dirty="0"/>
          </a:p>
        </p:txBody>
      </p:sp>
      <p:sp>
        <p:nvSpPr>
          <p:cNvPr id="6" name="Play a round circle"/>
          <p:cNvSpPr/>
          <p:nvPr/>
        </p:nvSpPr>
        <p:spPr>
          <a:xfrm>
            <a:off x="457200" y="2029968"/>
            <a:ext cx="566928" cy="566928"/>
          </a:xfrm>
          <a:prstGeom prst="ellipse">
            <a:avLst/>
          </a:prstGeom>
          <a:solidFill>
            <a:schemeClr val="accent1"/>
          </a:solidFill>
          <a:ln/>
        </p:spPr>
      </p:sp>
      <p:pic>
        <p:nvPicPr>
          <p:cNvPr id="7" name="Play a round icon" descr="Play a round">    </p:cNvPr>
          <p:cNvPicPr>
            <a:picLocks noChangeAspect="1"/>
          </p:cNvPicPr>
          <p:nvPr/>
        </p:nvPicPr>
        <p:blipFill>
          <a:blip r:embed="rId2"/>
          <a:stretch>
            <a:fillRect/>
          </a:stretch>
        </p:blipFill>
        <p:spPr>
          <a:xfrm>
            <a:off x="598932" y="2171700"/>
            <a:ext cx="283464" cy="283464"/>
          </a:xfrm>
          <a:prstGeom prst="rect">
            <a:avLst/>
          </a:prstGeom>
        </p:spPr>
      </p:pic>
      <p:sp>
        <p:nvSpPr>
          <p:cNvPr id="8" name="feature 2"/>
          <p:cNvSpPr txBox="1"/>
          <p:nvPr/>
        </p:nvSpPr>
        <p:spPr>
          <a:xfrm>
            <a:off x="1188720" y="1975104"/>
            <a:ext cx="3291840" cy="685800"/>
          </a:xfrm>
          <a:prstGeom prst="rect">
            <a:avLst/>
          </a:prstGeom>
          <a:noFill/>
          <a:ln/>
        </p:spPr>
        <p:txBody>
          <a:bodyPr wrap="square" lIns="0" tIns="0" rIns="0" bIns="0" rtlCol="0" anchor="ctr"/>
          <a:lstStyle/>
          <a:p>
            <a:pPr indent="0" marL="0">
              <a:buNone/>
            </a:pPr>
            <a:r>
              <a:rPr lang="en-US" sz="1600" b="1" dirty="0">
                <a:solidFill>
                  <a:schemeClr val="tx1"/>
                </a:solidFill>
              </a:rPr>
              <a:t>Play a round</a:t>
            </a:r>
            <a:endParaRPr lang="en-US" sz="1600" dirty="0"/>
          </a:p>
          <a:p>
            <a:pPr indent="0" marL="0">
              <a:buNone/>
            </a:pPr>
            <a:r>
              <a:rPr lang="en-US" sz="1400" dirty="0">
                <a:solidFill>
                  <a:schemeClr val="tx2"/>
                </a:solidFill>
              </a:rPr>
              <a:t>Click Rock, Paper or Scissors</a:t>
            </a:r>
            <a:endParaRPr lang="en-US" sz="1600" dirty="0"/>
          </a:p>
        </p:txBody>
      </p:sp>
      <p:sp>
        <p:nvSpPr>
          <p:cNvPr id="9" name="Track the score circle"/>
          <p:cNvSpPr/>
          <p:nvPr/>
        </p:nvSpPr>
        <p:spPr>
          <a:xfrm>
            <a:off x="457200" y="2871216"/>
            <a:ext cx="566928" cy="566928"/>
          </a:xfrm>
          <a:prstGeom prst="ellipse">
            <a:avLst/>
          </a:prstGeom>
          <a:solidFill>
            <a:schemeClr val="accent2"/>
          </a:solidFill>
          <a:ln/>
        </p:spPr>
      </p:sp>
      <p:pic>
        <p:nvPicPr>
          <p:cNvPr id="10" name="Track the score icon" descr="Track the score">    </p:cNvPr>
          <p:cNvPicPr>
            <a:picLocks noChangeAspect="1"/>
          </p:cNvPicPr>
          <p:nvPr/>
        </p:nvPicPr>
        <p:blipFill>
          <a:blip r:embed="rId3"/>
          <a:stretch>
            <a:fillRect/>
          </a:stretch>
        </p:blipFill>
        <p:spPr>
          <a:xfrm>
            <a:off x="598932" y="3012948"/>
            <a:ext cx="283464" cy="283464"/>
          </a:xfrm>
          <a:prstGeom prst="rect">
            <a:avLst/>
          </a:prstGeom>
        </p:spPr>
      </p:pic>
      <p:sp>
        <p:nvSpPr>
          <p:cNvPr id="11" name="feature 3"/>
          <p:cNvSpPr txBox="1"/>
          <p:nvPr/>
        </p:nvSpPr>
        <p:spPr>
          <a:xfrm>
            <a:off x="1188720" y="2816352"/>
            <a:ext cx="3291840" cy="685800"/>
          </a:xfrm>
          <a:prstGeom prst="rect">
            <a:avLst/>
          </a:prstGeom>
          <a:noFill/>
          <a:ln/>
        </p:spPr>
        <p:txBody>
          <a:bodyPr wrap="square" lIns="0" tIns="0" rIns="0" bIns="0" rtlCol="0" anchor="ctr"/>
          <a:lstStyle/>
          <a:p>
            <a:pPr indent="0" marL="0">
              <a:buNone/>
            </a:pPr>
            <a:r>
              <a:rPr lang="en-US" sz="1600" b="1" dirty="0">
                <a:solidFill>
                  <a:schemeClr val="tx1"/>
                </a:solidFill>
              </a:rPr>
              <a:t>Track the score</a:t>
            </a:r>
            <a:endParaRPr lang="en-US" sz="1600" dirty="0"/>
          </a:p>
          <a:p>
            <a:pPr indent="0" marL="0">
              <a:buNone/>
            </a:pPr>
            <a:r>
              <a:rPr lang="en-US" sz="1400" dirty="0">
                <a:solidFill>
                  <a:schemeClr val="tx2"/>
                </a:solidFill>
              </a:rPr>
              <a:t>Wins, losses and draws update live</a:t>
            </a:r>
            <a:endParaRPr lang="en-US" sz="1600" dirty="0"/>
          </a:p>
        </p:txBody>
      </p:sp>
      <p:sp>
        <p:nvSpPr>
          <p:cNvPr id="12" name="Review history circle"/>
          <p:cNvSpPr/>
          <p:nvPr/>
        </p:nvSpPr>
        <p:spPr>
          <a:xfrm>
            <a:off x="457200" y="3712464"/>
            <a:ext cx="566928" cy="566928"/>
          </a:xfrm>
          <a:prstGeom prst="ellipse">
            <a:avLst/>
          </a:prstGeom>
          <a:solidFill>
            <a:schemeClr val="accent3"/>
          </a:solidFill>
          <a:ln/>
        </p:spPr>
      </p:sp>
      <p:pic>
        <p:nvPicPr>
          <p:cNvPr id="13" name="Review history icon" descr="Review history">    </p:cNvPr>
          <p:cNvPicPr>
            <a:picLocks noChangeAspect="1"/>
          </p:cNvPicPr>
          <p:nvPr/>
        </p:nvPicPr>
        <p:blipFill>
          <a:blip r:embed="rId4"/>
          <a:stretch>
            <a:fillRect/>
          </a:stretch>
        </p:blipFill>
        <p:spPr>
          <a:xfrm>
            <a:off x="598932" y="3854196"/>
            <a:ext cx="283464" cy="283464"/>
          </a:xfrm>
          <a:prstGeom prst="rect">
            <a:avLst/>
          </a:prstGeom>
        </p:spPr>
      </p:pic>
      <p:sp>
        <p:nvSpPr>
          <p:cNvPr id="14" name="feature 4"/>
          <p:cNvSpPr txBox="1"/>
          <p:nvPr/>
        </p:nvSpPr>
        <p:spPr>
          <a:xfrm>
            <a:off x="1188720" y="3657600"/>
            <a:ext cx="3291840" cy="685800"/>
          </a:xfrm>
          <a:prstGeom prst="rect">
            <a:avLst/>
          </a:prstGeom>
          <a:noFill/>
          <a:ln/>
        </p:spPr>
        <p:txBody>
          <a:bodyPr wrap="square" lIns="0" tIns="0" rIns="0" bIns="0" rtlCol="0" anchor="ctr"/>
          <a:lstStyle/>
          <a:p>
            <a:pPr indent="0" marL="0">
              <a:buNone/>
            </a:pPr>
            <a:r>
              <a:rPr lang="en-US" sz="1600" b="1" dirty="0">
                <a:solidFill>
                  <a:schemeClr val="tx1"/>
                </a:solidFill>
              </a:rPr>
              <a:t>Review history</a:t>
            </a:r>
            <a:endParaRPr lang="en-US" sz="1600" dirty="0"/>
          </a:p>
          <a:p>
            <a:pPr indent="0" marL="0">
              <a:buNone/>
            </a:pPr>
            <a:r>
              <a:rPr lang="en-US" sz="1400" dirty="0">
                <a:solidFill>
                  <a:schemeClr val="tx2"/>
                </a:solidFill>
              </a:rPr>
              <a:t>Every round listed, newest first</a:t>
            </a:r>
            <a:endParaRPr lang="en-US" sz="1600" dirty="0"/>
          </a:p>
        </p:txBody>
      </p:sp>
      <p:sp>
        <p:nvSpPr>
          <p:cNvPr id="15" name="tech card"/>
          <p:cNvSpPr/>
          <p:nvPr/>
        </p:nvSpPr>
        <p:spPr>
          <a:xfrm>
            <a:off x="4846320" y="1097280"/>
            <a:ext cx="3840480" cy="3429000"/>
          </a:xfrm>
          <a:prstGeom prst="roundRect">
            <a:avLst>
              <a:gd name="adj" fmla="val 3200"/>
            </a:avLst>
          </a:prstGeom>
          <a:solidFill>
            <a:schemeClr val="bg2"/>
          </a:solidFill>
          <a:ln/>
        </p:spPr>
      </p:sp>
      <p:sp>
        <p:nvSpPr>
          <p:cNvPr id="16" name="tech heading"/>
          <p:cNvSpPr txBox="1"/>
          <p:nvPr/>
        </p:nvSpPr>
        <p:spPr>
          <a:xfrm>
            <a:off x="5120640" y="1234440"/>
            <a:ext cx="3291840" cy="411480"/>
          </a:xfrm>
          <a:prstGeom prst="rect">
            <a:avLst/>
          </a:prstGeom>
          <a:noFill/>
          <a:ln/>
        </p:spPr>
        <p:txBody>
          <a:bodyPr wrap="square" lIns="0" tIns="0" rIns="0" bIns="0" rtlCol="0" anchor="ctr"/>
          <a:lstStyle/>
          <a:p>
            <a:pPr indent="0" marL="0">
              <a:buNone/>
            </a:pPr>
            <a:r>
              <a:rPr lang="en-US" sz="1800" b="1" dirty="0">
                <a:solidFill>
                  <a:schemeClr val="tx1"/>
                </a:solidFill>
              </a:rPr>
              <a:t>Tech stack</a:t>
            </a:r>
            <a:endParaRPr lang="en-US" sz="1800" dirty="0"/>
          </a:p>
        </p:txBody>
      </p:sp>
      <p:pic>
        <p:nvPicPr>
          <p:cNvPr id="17" name="Java 17+ logo" descr="Java 17+">    </p:cNvPr>
          <p:cNvPicPr>
            <a:picLocks noChangeAspect="1"/>
          </p:cNvPicPr>
          <p:nvPr/>
        </p:nvPicPr>
        <p:blipFill>
          <a:blip r:embed="rId5"/>
          <a:stretch>
            <a:fillRect/>
          </a:stretch>
        </p:blipFill>
        <p:spPr>
          <a:xfrm>
            <a:off x="5120640" y="1810512"/>
            <a:ext cx="329184" cy="329184"/>
          </a:xfrm>
          <a:prstGeom prst="rect">
            <a:avLst/>
          </a:prstGeom>
        </p:spPr>
      </p:pic>
      <p:sp>
        <p:nvSpPr>
          <p:cNvPr id="18" name="Java 17+ row"/>
          <p:cNvSpPr txBox="1"/>
          <p:nvPr/>
        </p:nvSpPr>
        <p:spPr>
          <a:xfrm>
            <a:off x="5577840" y="1755648"/>
            <a:ext cx="2971800" cy="438912"/>
          </a:xfrm>
          <a:prstGeom prst="rect">
            <a:avLst/>
          </a:prstGeom>
          <a:noFill/>
          <a:ln/>
        </p:spPr>
        <p:txBody>
          <a:bodyPr wrap="square" lIns="0" tIns="0" rIns="0" bIns="0" rtlCol="0" anchor="ctr"/>
          <a:lstStyle/>
          <a:p>
            <a:pPr indent="0" marL="0">
              <a:buNone/>
            </a:pPr>
            <a:r>
              <a:rPr lang="en-US" sz="1400" b="1" dirty="0">
                <a:solidFill>
                  <a:schemeClr val="tx1"/>
                </a:solidFill>
              </a:rPr>
              <a:t>Java 17+  </a:t>
            </a:r>
            <a:pPr indent="0" marL="0">
              <a:buNone/>
            </a:pPr>
            <a:r>
              <a:rPr lang="en-US" sz="1400" dirty="0">
                <a:solidFill>
                  <a:schemeClr val="tx2"/>
                </a:solidFill>
              </a:rPr>
              <a:t>Game logic, OOP model</a:t>
            </a:r>
            <a:endParaRPr lang="en-US" sz="1400" dirty="0"/>
          </a:p>
        </p:txBody>
      </p:sp>
      <p:pic>
        <p:nvPicPr>
          <p:cNvPr id="19" name="Spring Boot 3 logo" descr="Spring Boot 3">    </p:cNvPr>
          <p:cNvPicPr>
            <a:picLocks noChangeAspect="1"/>
          </p:cNvPicPr>
          <p:nvPr/>
        </p:nvPicPr>
        <p:blipFill>
          <a:blip r:embed="rId6"/>
          <a:stretch>
            <a:fillRect/>
          </a:stretch>
        </p:blipFill>
        <p:spPr>
          <a:xfrm>
            <a:off x="5120640" y="2340864"/>
            <a:ext cx="329184" cy="329184"/>
          </a:xfrm>
          <a:prstGeom prst="rect">
            <a:avLst/>
          </a:prstGeom>
        </p:spPr>
      </p:pic>
      <p:sp>
        <p:nvSpPr>
          <p:cNvPr id="20" name="Spring Boot 3 row"/>
          <p:cNvSpPr txBox="1"/>
          <p:nvPr/>
        </p:nvSpPr>
        <p:spPr>
          <a:xfrm>
            <a:off x="5577840" y="2286000"/>
            <a:ext cx="2971800" cy="438912"/>
          </a:xfrm>
          <a:prstGeom prst="rect">
            <a:avLst/>
          </a:prstGeom>
          <a:noFill/>
          <a:ln/>
        </p:spPr>
        <p:txBody>
          <a:bodyPr wrap="square" lIns="0" tIns="0" rIns="0" bIns="0" rtlCol="0" anchor="ctr"/>
          <a:lstStyle/>
          <a:p>
            <a:pPr indent="0" marL="0">
              <a:buNone/>
            </a:pPr>
            <a:r>
              <a:rPr lang="en-US" sz="1400" b="1" dirty="0">
                <a:solidFill>
                  <a:schemeClr val="tx1"/>
                </a:solidFill>
              </a:rPr>
              <a:t>Spring Boot 3  </a:t>
            </a:r>
            <a:pPr indent="0" marL="0">
              <a:buNone/>
            </a:pPr>
            <a:r>
              <a:rPr lang="en-US" sz="1400" dirty="0">
                <a:solidFill>
                  <a:schemeClr val="tx2"/>
                </a:solidFill>
              </a:rPr>
              <a:t>REST API + web server</a:t>
            </a:r>
            <a:endParaRPr lang="en-US" sz="1400" dirty="0"/>
          </a:p>
        </p:txBody>
      </p:sp>
      <p:pic>
        <p:nvPicPr>
          <p:cNvPr id="21" name="Vue 3 logo" descr="Vue 3">    </p:cNvPr>
          <p:cNvPicPr>
            <a:picLocks noChangeAspect="1"/>
          </p:cNvPicPr>
          <p:nvPr/>
        </p:nvPicPr>
        <p:blipFill>
          <a:blip r:embed="rId7"/>
          <a:stretch>
            <a:fillRect/>
          </a:stretch>
        </p:blipFill>
        <p:spPr>
          <a:xfrm>
            <a:off x="5120640" y="2871216"/>
            <a:ext cx="329184" cy="329184"/>
          </a:xfrm>
          <a:prstGeom prst="rect">
            <a:avLst/>
          </a:prstGeom>
        </p:spPr>
      </p:pic>
      <p:sp>
        <p:nvSpPr>
          <p:cNvPr id="22" name="Vue 3 row"/>
          <p:cNvSpPr txBox="1"/>
          <p:nvPr/>
        </p:nvSpPr>
        <p:spPr>
          <a:xfrm>
            <a:off x="5577840" y="2816352"/>
            <a:ext cx="2971800" cy="438912"/>
          </a:xfrm>
          <a:prstGeom prst="rect">
            <a:avLst/>
          </a:prstGeom>
          <a:noFill/>
          <a:ln/>
        </p:spPr>
        <p:txBody>
          <a:bodyPr wrap="square" lIns="0" tIns="0" rIns="0" bIns="0" rtlCol="0" anchor="ctr"/>
          <a:lstStyle/>
          <a:p>
            <a:pPr indent="0" marL="0">
              <a:buNone/>
            </a:pPr>
            <a:r>
              <a:rPr lang="en-US" sz="1400" b="1" dirty="0">
                <a:solidFill>
                  <a:schemeClr val="tx1"/>
                </a:solidFill>
              </a:rPr>
              <a:t>Vue 3  </a:t>
            </a:r>
            <a:pPr indent="0" marL="0">
              <a:buNone/>
            </a:pPr>
            <a:r>
              <a:rPr lang="en-US" sz="1400" dirty="0">
                <a:solidFill>
                  <a:schemeClr val="tx2"/>
                </a:solidFill>
              </a:rPr>
              <a:t>Reactive browser UI</a:t>
            </a:r>
            <a:endParaRPr lang="en-US" sz="1400" dirty="0"/>
          </a:p>
        </p:txBody>
      </p:sp>
      <p:pic>
        <p:nvPicPr>
          <p:cNvPr id="23" name="Maven logo" descr="Maven">    </p:cNvPr>
          <p:cNvPicPr>
            <a:picLocks noChangeAspect="1"/>
          </p:cNvPicPr>
          <p:nvPr/>
        </p:nvPicPr>
        <p:blipFill>
          <a:blip r:embed="rId8"/>
          <a:stretch>
            <a:fillRect/>
          </a:stretch>
        </p:blipFill>
        <p:spPr>
          <a:xfrm>
            <a:off x="5120640" y="3401568"/>
            <a:ext cx="329184" cy="329184"/>
          </a:xfrm>
          <a:prstGeom prst="rect">
            <a:avLst/>
          </a:prstGeom>
        </p:spPr>
      </p:pic>
      <p:sp>
        <p:nvSpPr>
          <p:cNvPr id="24" name="Maven row"/>
          <p:cNvSpPr txBox="1"/>
          <p:nvPr/>
        </p:nvSpPr>
        <p:spPr>
          <a:xfrm>
            <a:off x="5577840" y="3346704"/>
            <a:ext cx="2971800" cy="438912"/>
          </a:xfrm>
          <a:prstGeom prst="rect">
            <a:avLst/>
          </a:prstGeom>
          <a:noFill/>
          <a:ln/>
        </p:spPr>
        <p:txBody>
          <a:bodyPr wrap="square" lIns="0" tIns="0" rIns="0" bIns="0" rtlCol="0" anchor="ctr"/>
          <a:lstStyle/>
          <a:p>
            <a:pPr indent="0" marL="0">
              <a:buNone/>
            </a:pPr>
            <a:r>
              <a:rPr lang="en-US" sz="1400" b="1" dirty="0">
                <a:solidFill>
                  <a:schemeClr val="tx1"/>
                </a:solidFill>
              </a:rPr>
              <a:t>Maven  </a:t>
            </a:r>
            <a:pPr indent="0" marL="0">
              <a:buNone/>
            </a:pPr>
            <a:r>
              <a:rPr lang="en-US" sz="1400" dirty="0">
                <a:solidFill>
                  <a:schemeClr val="tx2"/>
                </a:solidFill>
              </a:rPr>
              <a:t>Build and dependencies</a:t>
            </a:r>
            <a:endParaRPr lang="en-US" sz="1400" dirty="0"/>
          </a:p>
        </p:txBody>
      </p:sp>
      <p:pic>
        <p:nvPicPr>
          <p:cNvPr id="25" name="JUnit 5 logo" descr="JUnit 5">    </p:cNvPr>
          <p:cNvPicPr>
            <a:picLocks noChangeAspect="1"/>
          </p:cNvPicPr>
          <p:nvPr/>
        </p:nvPicPr>
        <p:blipFill>
          <a:blip r:embed="rId9"/>
          <a:stretch>
            <a:fillRect/>
          </a:stretch>
        </p:blipFill>
        <p:spPr>
          <a:xfrm>
            <a:off x="5120640" y="3931920"/>
            <a:ext cx="329184" cy="329184"/>
          </a:xfrm>
          <a:prstGeom prst="rect">
            <a:avLst/>
          </a:prstGeom>
        </p:spPr>
      </p:pic>
      <p:sp>
        <p:nvSpPr>
          <p:cNvPr id="26" name="JUnit 5 row"/>
          <p:cNvSpPr txBox="1"/>
          <p:nvPr/>
        </p:nvSpPr>
        <p:spPr>
          <a:xfrm>
            <a:off x="5577840" y="3877056"/>
            <a:ext cx="2971800" cy="438912"/>
          </a:xfrm>
          <a:prstGeom prst="rect">
            <a:avLst/>
          </a:prstGeom>
          <a:noFill/>
          <a:ln/>
        </p:spPr>
        <p:txBody>
          <a:bodyPr wrap="square" lIns="0" tIns="0" rIns="0" bIns="0" rtlCol="0" anchor="ctr"/>
          <a:lstStyle/>
          <a:p>
            <a:pPr indent="0" marL="0">
              <a:buNone/>
            </a:pPr>
            <a:r>
              <a:rPr lang="en-US" sz="1400" b="1" dirty="0">
                <a:solidFill>
                  <a:schemeClr val="tx1"/>
                </a:solidFill>
              </a:rPr>
              <a:t>JUnit 5  </a:t>
            </a:r>
            <a:pPr indent="0" marL="0">
              <a:buNone/>
            </a:pPr>
            <a:r>
              <a:rPr lang="en-US" sz="1400" dirty="0">
                <a:solidFill>
                  <a:schemeClr val="tx2"/>
                </a:solidFill>
              </a:rPr>
              <a:t>Unit tests for rules &amp; AI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Layered architecture</a:t>
            </a:r>
            <a:endParaRPr lang="en-US" sz="3200" dirty="0"/>
          </a:p>
        </p:txBody>
      </p:sp>
      <p:sp>
        <p:nvSpPr>
          <p:cNvPr id="3" name="layer card Vue 3 UI"/>
          <p:cNvSpPr/>
          <p:nvPr/>
        </p:nvSpPr>
        <p:spPr>
          <a:xfrm>
            <a:off x="457200" y="1097280"/>
            <a:ext cx="1463040" cy="1737360"/>
          </a:xfrm>
          <a:prstGeom prst="roundRect">
            <a:avLst>
              <a:gd name="adj" fmla="val 6250"/>
            </a:avLst>
          </a:prstGeom>
          <a:solidFill>
            <a:schemeClr val="bg2"/>
          </a:solidFill>
          <a:ln/>
        </p:spPr>
      </p:sp>
      <p:sp>
        <p:nvSpPr>
          <p:cNvPr id="4" name="Vue 3 UI circle"/>
          <p:cNvSpPr/>
          <p:nvPr/>
        </p:nvSpPr>
        <p:spPr>
          <a:xfrm>
            <a:off x="914400" y="1234440"/>
            <a:ext cx="548640" cy="548640"/>
          </a:xfrm>
          <a:prstGeom prst="ellipse">
            <a:avLst/>
          </a:prstGeom>
          <a:solidFill>
            <a:schemeClr val="accent2"/>
          </a:solidFill>
          <a:ln/>
        </p:spPr>
      </p:sp>
      <p:pic>
        <p:nvPicPr>
          <p:cNvPr id="5" name="Vue 3 UI icon" descr="Vue 3 UI">    </p:cNvPr>
          <p:cNvPicPr>
            <a:picLocks noChangeAspect="1"/>
          </p:cNvPicPr>
          <p:nvPr/>
        </p:nvPicPr>
        <p:blipFill>
          <a:blip r:embed="rId1"/>
          <a:stretch>
            <a:fillRect/>
          </a:stretch>
        </p:blipFill>
        <p:spPr>
          <a:xfrm>
            <a:off x="1051560" y="1371600"/>
            <a:ext cx="274320" cy="274320"/>
          </a:xfrm>
          <a:prstGeom prst="rect">
            <a:avLst/>
          </a:prstGeom>
        </p:spPr>
      </p:pic>
      <p:sp>
        <p:nvSpPr>
          <p:cNvPr id="6" name="layer name Vue 3 UI"/>
          <p:cNvSpPr txBox="1"/>
          <p:nvPr/>
        </p:nvSpPr>
        <p:spPr>
          <a:xfrm>
            <a:off x="502920" y="1847088"/>
            <a:ext cx="1371600" cy="320040"/>
          </a:xfrm>
          <a:prstGeom prst="rect">
            <a:avLst/>
          </a:prstGeom>
          <a:noFill/>
          <a:ln/>
        </p:spPr>
        <p:txBody>
          <a:bodyPr wrap="square" lIns="0" tIns="0" rIns="0" bIns="0" rtlCol="0" anchor="ctr"/>
          <a:lstStyle/>
          <a:p>
            <a:pPr algn="ctr" indent="0" marL="0">
              <a:buNone/>
            </a:pPr>
            <a:r>
              <a:rPr lang="en-US" sz="1500" b="1" dirty="0">
                <a:solidFill>
                  <a:schemeClr val="tx1"/>
                </a:solidFill>
              </a:rPr>
              <a:t>Vue 3 UI</a:t>
            </a:r>
            <a:endParaRPr lang="en-US" sz="1500" dirty="0"/>
          </a:p>
        </p:txBody>
      </p:sp>
      <p:sp>
        <p:nvSpPr>
          <p:cNvPr id="7" name="layer desc Vue 3 UI"/>
          <p:cNvSpPr txBox="1"/>
          <p:nvPr/>
        </p:nvSpPr>
        <p:spPr>
          <a:xfrm>
            <a:off x="548640" y="2167128"/>
            <a:ext cx="1280160" cy="594360"/>
          </a:xfrm>
          <a:prstGeom prst="rect">
            <a:avLst/>
          </a:prstGeom>
          <a:noFill/>
          <a:ln/>
        </p:spPr>
        <p:txBody>
          <a:bodyPr wrap="square" lIns="0" tIns="0" rIns="0" bIns="0" rtlCol="0" anchor="t"/>
          <a:lstStyle/>
          <a:p>
            <a:pPr algn="ctr" indent="0" marL="0">
              <a:buNone/>
            </a:pPr>
            <a:r>
              <a:rPr lang="en-US" sz="1200" dirty="0">
                <a:solidFill>
                  <a:schemeClr val="tx2"/>
                </a:solidFill>
              </a:rPr>
              <a:t>index.html sends clicks as JSON</a:t>
            </a:r>
            <a:endParaRPr lang="en-US" sz="1200" dirty="0"/>
          </a:p>
        </p:txBody>
      </p:sp>
      <p:sp>
        <p:nvSpPr>
          <p:cNvPr id="8" name="arrow 1"/>
          <p:cNvSpPr/>
          <p:nvPr/>
        </p:nvSpPr>
        <p:spPr>
          <a:xfrm>
            <a:off x="1956816" y="1828800"/>
            <a:ext cx="155448" cy="256032"/>
          </a:xfrm>
          <a:prstGeom prst="rightArrow">
            <a:avLst/>
          </a:prstGeom>
          <a:solidFill>
            <a:schemeClr val="accent6"/>
          </a:solidFill>
          <a:ln/>
        </p:spPr>
      </p:sp>
      <p:sp>
        <p:nvSpPr>
          <p:cNvPr id="9" name="layer card Controller"/>
          <p:cNvSpPr/>
          <p:nvPr/>
        </p:nvSpPr>
        <p:spPr>
          <a:xfrm>
            <a:off x="2148840" y="1097280"/>
            <a:ext cx="1463040" cy="1737360"/>
          </a:xfrm>
          <a:prstGeom prst="roundRect">
            <a:avLst>
              <a:gd name="adj" fmla="val 6250"/>
            </a:avLst>
          </a:prstGeom>
          <a:solidFill>
            <a:schemeClr val="bg2"/>
          </a:solidFill>
          <a:ln/>
        </p:spPr>
      </p:sp>
      <p:sp>
        <p:nvSpPr>
          <p:cNvPr id="10" name="Controller circle"/>
          <p:cNvSpPr/>
          <p:nvPr/>
        </p:nvSpPr>
        <p:spPr>
          <a:xfrm>
            <a:off x="2606040" y="1234440"/>
            <a:ext cx="548640" cy="548640"/>
          </a:xfrm>
          <a:prstGeom prst="ellipse">
            <a:avLst/>
          </a:prstGeom>
          <a:solidFill>
            <a:schemeClr val="accent4"/>
          </a:solidFill>
          <a:ln/>
        </p:spPr>
      </p:sp>
      <p:pic>
        <p:nvPicPr>
          <p:cNvPr id="11" name="Controller icon" descr="Controller">    </p:cNvPr>
          <p:cNvPicPr>
            <a:picLocks noChangeAspect="1"/>
          </p:cNvPicPr>
          <p:nvPr/>
        </p:nvPicPr>
        <p:blipFill>
          <a:blip r:embed="rId2"/>
          <a:stretch>
            <a:fillRect/>
          </a:stretch>
        </p:blipFill>
        <p:spPr>
          <a:xfrm>
            <a:off x="2743200" y="1371600"/>
            <a:ext cx="274320" cy="274320"/>
          </a:xfrm>
          <a:prstGeom prst="rect">
            <a:avLst/>
          </a:prstGeom>
        </p:spPr>
      </p:pic>
      <p:sp>
        <p:nvSpPr>
          <p:cNvPr id="12" name="layer name Controller"/>
          <p:cNvSpPr txBox="1"/>
          <p:nvPr/>
        </p:nvSpPr>
        <p:spPr>
          <a:xfrm>
            <a:off x="2194560" y="1847088"/>
            <a:ext cx="1371600" cy="320040"/>
          </a:xfrm>
          <a:prstGeom prst="rect">
            <a:avLst/>
          </a:prstGeom>
          <a:noFill/>
          <a:ln/>
        </p:spPr>
        <p:txBody>
          <a:bodyPr wrap="square" lIns="0" tIns="0" rIns="0" bIns="0" rtlCol="0" anchor="ctr"/>
          <a:lstStyle/>
          <a:p>
            <a:pPr algn="ctr" indent="0" marL="0">
              <a:buNone/>
            </a:pPr>
            <a:r>
              <a:rPr lang="en-US" sz="1500" b="1" dirty="0">
                <a:solidFill>
                  <a:schemeClr val="tx1"/>
                </a:solidFill>
              </a:rPr>
              <a:t>Controller</a:t>
            </a:r>
            <a:endParaRPr lang="en-US" sz="1500" dirty="0"/>
          </a:p>
        </p:txBody>
      </p:sp>
      <p:sp>
        <p:nvSpPr>
          <p:cNvPr id="13" name="layer desc Controller"/>
          <p:cNvSpPr txBox="1"/>
          <p:nvPr/>
        </p:nvSpPr>
        <p:spPr>
          <a:xfrm>
            <a:off x="2240280" y="2167128"/>
            <a:ext cx="1280160" cy="594360"/>
          </a:xfrm>
          <a:prstGeom prst="rect">
            <a:avLst/>
          </a:prstGeom>
          <a:noFill/>
          <a:ln/>
        </p:spPr>
        <p:txBody>
          <a:bodyPr wrap="square" lIns="0" tIns="0" rIns="0" bIns="0" rtlCol="0" anchor="t"/>
          <a:lstStyle/>
          <a:p>
            <a:pPr algn="ctr" indent="0" marL="0">
              <a:buNone/>
            </a:pPr>
            <a:r>
              <a:rPr lang="en-US" sz="1200" dirty="0">
                <a:solidFill>
                  <a:schemeClr val="tx2"/>
                </a:solidFill>
              </a:rPr>
              <a:t>REST endpoints, no game logic</a:t>
            </a:r>
            <a:endParaRPr lang="en-US" sz="1200" dirty="0"/>
          </a:p>
        </p:txBody>
      </p:sp>
      <p:sp>
        <p:nvSpPr>
          <p:cNvPr id="14" name="arrow 2"/>
          <p:cNvSpPr/>
          <p:nvPr/>
        </p:nvSpPr>
        <p:spPr>
          <a:xfrm>
            <a:off x="3648456" y="1828800"/>
            <a:ext cx="155448" cy="256032"/>
          </a:xfrm>
          <a:prstGeom prst="rightArrow">
            <a:avLst/>
          </a:prstGeom>
          <a:solidFill>
            <a:schemeClr val="accent6"/>
          </a:solidFill>
          <a:ln/>
        </p:spPr>
      </p:sp>
      <p:sp>
        <p:nvSpPr>
          <p:cNvPr id="15" name="layer card Service"/>
          <p:cNvSpPr/>
          <p:nvPr/>
        </p:nvSpPr>
        <p:spPr>
          <a:xfrm>
            <a:off x="3840480" y="1097280"/>
            <a:ext cx="1463040" cy="1737360"/>
          </a:xfrm>
          <a:prstGeom prst="roundRect">
            <a:avLst>
              <a:gd name="adj" fmla="val 6250"/>
            </a:avLst>
          </a:prstGeom>
          <a:solidFill>
            <a:schemeClr val="bg2"/>
          </a:solidFill>
          <a:ln/>
        </p:spPr>
      </p:sp>
      <p:sp>
        <p:nvSpPr>
          <p:cNvPr id="16" name="Service circle"/>
          <p:cNvSpPr/>
          <p:nvPr/>
        </p:nvSpPr>
        <p:spPr>
          <a:xfrm>
            <a:off x="4297680" y="1234440"/>
            <a:ext cx="548640" cy="548640"/>
          </a:xfrm>
          <a:prstGeom prst="ellipse">
            <a:avLst/>
          </a:prstGeom>
          <a:solidFill>
            <a:schemeClr val="accent4"/>
          </a:solidFill>
          <a:ln/>
        </p:spPr>
      </p:sp>
      <p:pic>
        <p:nvPicPr>
          <p:cNvPr id="17" name="Service icon" descr="Service">    </p:cNvPr>
          <p:cNvPicPr>
            <a:picLocks noChangeAspect="1"/>
          </p:cNvPicPr>
          <p:nvPr/>
        </p:nvPicPr>
        <p:blipFill>
          <a:blip r:embed="rId3"/>
          <a:stretch>
            <a:fillRect/>
          </a:stretch>
        </p:blipFill>
        <p:spPr>
          <a:xfrm>
            <a:off x="4434840" y="1371600"/>
            <a:ext cx="274320" cy="274320"/>
          </a:xfrm>
          <a:prstGeom prst="rect">
            <a:avLst/>
          </a:prstGeom>
        </p:spPr>
      </p:pic>
      <p:sp>
        <p:nvSpPr>
          <p:cNvPr id="18" name="layer name Service"/>
          <p:cNvSpPr txBox="1"/>
          <p:nvPr/>
        </p:nvSpPr>
        <p:spPr>
          <a:xfrm>
            <a:off x="3886200" y="1847088"/>
            <a:ext cx="1371600" cy="320040"/>
          </a:xfrm>
          <a:prstGeom prst="rect">
            <a:avLst/>
          </a:prstGeom>
          <a:noFill/>
          <a:ln/>
        </p:spPr>
        <p:txBody>
          <a:bodyPr wrap="square" lIns="0" tIns="0" rIns="0" bIns="0" rtlCol="0" anchor="ctr"/>
          <a:lstStyle/>
          <a:p>
            <a:pPr algn="ctr" indent="0" marL="0">
              <a:buNone/>
            </a:pPr>
            <a:r>
              <a:rPr lang="en-US" sz="1500" b="1" dirty="0">
                <a:solidFill>
                  <a:schemeClr val="tx1"/>
                </a:solidFill>
              </a:rPr>
              <a:t>Service</a:t>
            </a:r>
            <a:endParaRPr lang="en-US" sz="1500" dirty="0"/>
          </a:p>
        </p:txBody>
      </p:sp>
      <p:sp>
        <p:nvSpPr>
          <p:cNvPr id="19" name="layer desc Service"/>
          <p:cNvSpPr txBox="1"/>
          <p:nvPr/>
        </p:nvSpPr>
        <p:spPr>
          <a:xfrm>
            <a:off x="3931920" y="2167128"/>
            <a:ext cx="1280160" cy="594360"/>
          </a:xfrm>
          <a:prstGeom prst="rect">
            <a:avLst/>
          </a:prstGeom>
          <a:noFill/>
          <a:ln/>
        </p:spPr>
        <p:txBody>
          <a:bodyPr wrap="square" lIns="0" tIns="0" rIns="0" bIns="0" rtlCol="0" anchor="t"/>
          <a:lstStyle/>
          <a:p>
            <a:pPr algn="ctr" indent="0" marL="0">
              <a:buNone/>
            </a:pPr>
            <a:r>
              <a:rPr lang="en-US" sz="1200" dirty="0">
                <a:solidFill>
                  <a:schemeClr val="tx2"/>
                </a:solidFill>
              </a:rPr>
              <a:t>Creates, stores and runs games</a:t>
            </a:r>
            <a:endParaRPr lang="en-US" sz="1200" dirty="0"/>
          </a:p>
        </p:txBody>
      </p:sp>
      <p:sp>
        <p:nvSpPr>
          <p:cNvPr id="20" name="arrow 3"/>
          <p:cNvSpPr/>
          <p:nvPr/>
        </p:nvSpPr>
        <p:spPr>
          <a:xfrm>
            <a:off x="5340096" y="1828800"/>
            <a:ext cx="155448" cy="256032"/>
          </a:xfrm>
          <a:prstGeom prst="rightArrow">
            <a:avLst/>
          </a:prstGeom>
          <a:solidFill>
            <a:schemeClr val="accent6"/>
          </a:solidFill>
          <a:ln/>
        </p:spPr>
      </p:sp>
      <p:sp>
        <p:nvSpPr>
          <p:cNvPr id="21" name="layer card Game model"/>
          <p:cNvSpPr/>
          <p:nvPr/>
        </p:nvSpPr>
        <p:spPr>
          <a:xfrm>
            <a:off x="5532120" y="1097280"/>
            <a:ext cx="1463040" cy="1737360"/>
          </a:xfrm>
          <a:prstGeom prst="roundRect">
            <a:avLst>
              <a:gd name="adj" fmla="val 6250"/>
            </a:avLst>
          </a:prstGeom>
          <a:solidFill>
            <a:schemeClr val="bg2"/>
          </a:solidFill>
          <a:ln/>
        </p:spPr>
      </p:sp>
      <p:sp>
        <p:nvSpPr>
          <p:cNvPr id="22" name="Game model circle"/>
          <p:cNvSpPr/>
          <p:nvPr/>
        </p:nvSpPr>
        <p:spPr>
          <a:xfrm>
            <a:off x="5989320" y="1234440"/>
            <a:ext cx="548640" cy="548640"/>
          </a:xfrm>
          <a:prstGeom prst="ellipse">
            <a:avLst/>
          </a:prstGeom>
          <a:solidFill>
            <a:schemeClr val="accent3"/>
          </a:solidFill>
          <a:ln/>
        </p:spPr>
      </p:sp>
      <p:pic>
        <p:nvPicPr>
          <p:cNvPr id="23" name="Game model icon" descr="Game model">    </p:cNvPr>
          <p:cNvPicPr>
            <a:picLocks noChangeAspect="1"/>
          </p:cNvPicPr>
          <p:nvPr/>
        </p:nvPicPr>
        <p:blipFill>
          <a:blip r:embed="rId4"/>
          <a:stretch>
            <a:fillRect/>
          </a:stretch>
        </p:blipFill>
        <p:spPr>
          <a:xfrm>
            <a:off x="6126480" y="1371600"/>
            <a:ext cx="274320" cy="274320"/>
          </a:xfrm>
          <a:prstGeom prst="rect">
            <a:avLst/>
          </a:prstGeom>
        </p:spPr>
      </p:pic>
      <p:sp>
        <p:nvSpPr>
          <p:cNvPr id="24" name="layer name Game model"/>
          <p:cNvSpPr txBox="1"/>
          <p:nvPr/>
        </p:nvSpPr>
        <p:spPr>
          <a:xfrm>
            <a:off x="5577840" y="1847088"/>
            <a:ext cx="1371600" cy="320040"/>
          </a:xfrm>
          <a:prstGeom prst="rect">
            <a:avLst/>
          </a:prstGeom>
          <a:noFill/>
          <a:ln/>
        </p:spPr>
        <p:txBody>
          <a:bodyPr wrap="square" lIns="0" tIns="0" rIns="0" bIns="0" rtlCol="0" anchor="ctr"/>
          <a:lstStyle/>
          <a:p>
            <a:pPr algn="ctr" indent="0" marL="0">
              <a:buNone/>
            </a:pPr>
            <a:r>
              <a:rPr lang="en-US" sz="1500" b="1" dirty="0">
                <a:solidFill>
                  <a:schemeClr val="tx1"/>
                </a:solidFill>
              </a:rPr>
              <a:t>Game model</a:t>
            </a:r>
            <a:endParaRPr lang="en-US" sz="1500" dirty="0"/>
          </a:p>
        </p:txBody>
      </p:sp>
      <p:sp>
        <p:nvSpPr>
          <p:cNvPr id="25" name="layer desc Game model"/>
          <p:cNvSpPr txBox="1"/>
          <p:nvPr/>
        </p:nvSpPr>
        <p:spPr>
          <a:xfrm>
            <a:off x="5623560" y="2167128"/>
            <a:ext cx="1280160" cy="594360"/>
          </a:xfrm>
          <a:prstGeom prst="rect">
            <a:avLst/>
          </a:prstGeom>
          <a:noFill/>
          <a:ln/>
        </p:spPr>
        <p:txBody>
          <a:bodyPr wrap="square" lIns="0" tIns="0" rIns="0" bIns="0" rtlCol="0" anchor="t"/>
          <a:lstStyle/>
          <a:p>
            <a:pPr algn="ctr" indent="0" marL="0">
              <a:buNone/>
            </a:pPr>
            <a:r>
              <a:rPr lang="en-US" sz="1200" dirty="0">
                <a:solidFill>
                  <a:schemeClr val="tx2"/>
                </a:solidFill>
              </a:rPr>
              <a:t>Rules, score and round history</a:t>
            </a:r>
            <a:endParaRPr lang="en-US" sz="1200" dirty="0"/>
          </a:p>
        </p:txBody>
      </p:sp>
      <p:sp>
        <p:nvSpPr>
          <p:cNvPr id="26" name="arrow 4"/>
          <p:cNvSpPr/>
          <p:nvPr/>
        </p:nvSpPr>
        <p:spPr>
          <a:xfrm>
            <a:off x="7031736" y="1828800"/>
            <a:ext cx="155448" cy="256032"/>
          </a:xfrm>
          <a:prstGeom prst="rightArrow">
            <a:avLst/>
          </a:prstGeom>
          <a:solidFill>
            <a:schemeClr val="accent6"/>
          </a:solidFill>
          <a:ln/>
        </p:spPr>
      </p:sp>
      <p:sp>
        <p:nvSpPr>
          <p:cNvPr id="27" name="layer card Players &amp; AI"/>
          <p:cNvSpPr/>
          <p:nvPr/>
        </p:nvSpPr>
        <p:spPr>
          <a:xfrm>
            <a:off x="7223760" y="1097280"/>
            <a:ext cx="1463040" cy="1737360"/>
          </a:xfrm>
          <a:prstGeom prst="roundRect">
            <a:avLst>
              <a:gd name="adj" fmla="val 6250"/>
            </a:avLst>
          </a:prstGeom>
          <a:solidFill>
            <a:schemeClr val="bg2"/>
          </a:solidFill>
          <a:ln/>
        </p:spPr>
      </p:sp>
      <p:sp>
        <p:nvSpPr>
          <p:cNvPr id="28" name="Players &amp; AI circle"/>
          <p:cNvSpPr/>
          <p:nvPr/>
        </p:nvSpPr>
        <p:spPr>
          <a:xfrm>
            <a:off x="7680960" y="1234440"/>
            <a:ext cx="548640" cy="548640"/>
          </a:xfrm>
          <a:prstGeom prst="ellipse">
            <a:avLst/>
          </a:prstGeom>
          <a:solidFill>
            <a:schemeClr val="accent3"/>
          </a:solidFill>
          <a:ln/>
        </p:spPr>
      </p:sp>
      <p:pic>
        <p:nvPicPr>
          <p:cNvPr id="29" name="Players &amp; AI icon" descr="Players &amp; AI">    </p:cNvPr>
          <p:cNvPicPr>
            <a:picLocks noChangeAspect="1"/>
          </p:cNvPicPr>
          <p:nvPr/>
        </p:nvPicPr>
        <p:blipFill>
          <a:blip r:embed="rId5"/>
          <a:stretch>
            <a:fillRect/>
          </a:stretch>
        </p:blipFill>
        <p:spPr>
          <a:xfrm>
            <a:off x="7818120" y="1371600"/>
            <a:ext cx="274320" cy="274320"/>
          </a:xfrm>
          <a:prstGeom prst="rect">
            <a:avLst/>
          </a:prstGeom>
        </p:spPr>
      </p:pic>
      <p:sp>
        <p:nvSpPr>
          <p:cNvPr id="30" name="layer name Players &amp;amp; AI"/>
          <p:cNvSpPr txBox="1"/>
          <p:nvPr/>
        </p:nvSpPr>
        <p:spPr>
          <a:xfrm>
            <a:off x="7269480" y="1847088"/>
            <a:ext cx="1371600" cy="320040"/>
          </a:xfrm>
          <a:prstGeom prst="rect">
            <a:avLst/>
          </a:prstGeom>
          <a:noFill/>
          <a:ln/>
        </p:spPr>
        <p:txBody>
          <a:bodyPr wrap="square" lIns="0" tIns="0" rIns="0" bIns="0" rtlCol="0" anchor="ctr"/>
          <a:lstStyle/>
          <a:p>
            <a:pPr algn="ctr" indent="0" marL="0">
              <a:buNone/>
            </a:pPr>
            <a:r>
              <a:rPr lang="en-US" sz="1500" b="1" dirty="0">
                <a:solidFill>
                  <a:schemeClr val="tx1"/>
                </a:solidFill>
              </a:rPr>
              <a:t>Players &amp; AI</a:t>
            </a:r>
            <a:endParaRPr lang="en-US" sz="1500" dirty="0"/>
          </a:p>
        </p:txBody>
      </p:sp>
      <p:sp>
        <p:nvSpPr>
          <p:cNvPr id="31" name="layer desc Players &amp;amp; AI"/>
          <p:cNvSpPr txBox="1"/>
          <p:nvPr/>
        </p:nvSpPr>
        <p:spPr>
          <a:xfrm>
            <a:off x="7315200" y="2167128"/>
            <a:ext cx="1280160" cy="594360"/>
          </a:xfrm>
          <a:prstGeom prst="rect">
            <a:avLst/>
          </a:prstGeom>
          <a:noFill/>
          <a:ln/>
        </p:spPr>
        <p:txBody>
          <a:bodyPr wrap="square" lIns="0" tIns="0" rIns="0" bIns="0" rtlCol="0" anchor="t"/>
          <a:lstStyle/>
          <a:p>
            <a:pPr algn="ctr" indent="0" marL="0">
              <a:buNone/>
            </a:pPr>
            <a:r>
              <a:rPr lang="en-US" sz="1200" dirty="0">
                <a:solidFill>
                  <a:schemeClr val="tx2"/>
                </a:solidFill>
              </a:rPr>
              <a:t>Human, Computer, strategies</a:t>
            </a:r>
            <a:endParaRPr lang="en-US" sz="1200" dirty="0"/>
          </a:p>
        </p:txBody>
      </p:sp>
      <p:sp>
        <p:nvSpPr>
          <p:cNvPr id="32" name="api card"/>
          <p:cNvSpPr/>
          <p:nvPr/>
        </p:nvSpPr>
        <p:spPr>
          <a:xfrm>
            <a:off x="457200" y="3063240"/>
            <a:ext cx="4846320" cy="1508760"/>
          </a:xfrm>
          <a:prstGeom prst="roundRect">
            <a:avLst>
              <a:gd name="adj" fmla="val 6061"/>
            </a:avLst>
          </a:prstGeom>
          <a:solidFill>
            <a:schemeClr val="tx1"/>
          </a:solidFill>
          <a:ln/>
        </p:spPr>
      </p:sp>
      <p:sp>
        <p:nvSpPr>
          <p:cNvPr id="33" name="api heading"/>
          <p:cNvSpPr txBox="1"/>
          <p:nvPr/>
        </p:nvSpPr>
        <p:spPr>
          <a:xfrm>
            <a:off x="685800" y="3154680"/>
            <a:ext cx="4389120" cy="320040"/>
          </a:xfrm>
          <a:prstGeom prst="rect">
            <a:avLst/>
          </a:prstGeom>
          <a:noFill/>
          <a:ln/>
        </p:spPr>
        <p:txBody>
          <a:bodyPr wrap="square" lIns="0" tIns="0" rIns="0" bIns="0" rtlCol="0" anchor="ctr"/>
          <a:lstStyle/>
          <a:p>
            <a:pPr indent="0" marL="0">
              <a:buNone/>
            </a:pPr>
            <a:r>
              <a:rPr lang="en-US" sz="1500" b="1" dirty="0">
                <a:solidFill>
                  <a:schemeClr val="accent2"/>
                </a:solidFill>
              </a:rPr>
              <a:t>REST API</a:t>
            </a:r>
            <a:endParaRPr lang="en-US" sz="1500" dirty="0"/>
          </a:p>
        </p:txBody>
      </p:sp>
      <p:sp>
        <p:nvSpPr>
          <p:cNvPr id="34" name="api list"/>
          <p:cNvSpPr txBox="1"/>
          <p:nvPr/>
        </p:nvSpPr>
        <p:spPr>
          <a:xfrm>
            <a:off x="685800" y="3493008"/>
            <a:ext cx="4480560" cy="1005840"/>
          </a:xfrm>
          <a:prstGeom prst="rect">
            <a:avLst/>
          </a:prstGeom>
          <a:noFill/>
          <a:ln/>
        </p:spPr>
        <p:txBody>
          <a:bodyPr wrap="square" lIns="0" tIns="0" rIns="0" bIns="0" rtlCol="0" anchor="t"/>
          <a:lstStyle/>
          <a:p>
            <a:pPr indent="0" marL="0">
              <a:buNone/>
            </a:pPr>
            <a:r>
              <a:rPr lang="en-US" sz="1200" b="1" dirty="0">
                <a:solidFill>
                  <a:schemeClr val="bg1"/>
                </a:solidFill>
                <a:latin typeface="Courier New" pitchFamily="34" charset="0"/>
                <a:ea typeface="Courier New" pitchFamily="34" charset="-122"/>
                <a:cs typeface="Courier New" pitchFamily="34" charset="-120"/>
              </a:rPr>
              <a:t>POST /api/games</a:t>
            </a:r>
            <a:pPr indent="0" marL="0">
              <a:buNone/>
            </a:pPr>
            <a:r>
              <a:rPr lang="en-US" sz="1200" dirty="0">
                <a:solidFill>
                  <a:schemeClr val="accent5"/>
                </a:solidFill>
                <a:latin typeface="Courier New" pitchFamily="34" charset="0"/>
                <a:ea typeface="Courier New" pitchFamily="34" charset="-122"/>
                <a:cs typeface="Courier New" pitchFamily="34" charset="-120"/>
              </a:rPr>
              <a:t>   new game</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POST /api/games/{id}/play</a:t>
            </a:r>
            <a:pPr indent="0" marL="0">
              <a:buNone/>
            </a:pPr>
            <a:r>
              <a:rPr lang="en-US" sz="1200" dirty="0">
                <a:solidFill>
                  <a:schemeClr val="accent5"/>
                </a:solidFill>
                <a:latin typeface="Courier New" pitchFamily="34" charset="0"/>
                <a:ea typeface="Courier New" pitchFamily="34" charset="-122"/>
                <a:cs typeface="Courier New" pitchFamily="34" charset="-120"/>
              </a:rPr>
              <a:t>   play a round</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POST /api/games/{id}/reset</a:t>
            </a:r>
            <a:pPr indent="0" marL="0">
              <a:buNone/>
            </a:pPr>
            <a:r>
              <a:rPr lang="en-US" sz="1200" dirty="0">
                <a:solidFill>
                  <a:schemeClr val="accent5"/>
                </a:solidFill>
                <a:latin typeface="Courier New" pitchFamily="34" charset="0"/>
                <a:ea typeface="Courier New" pitchFamily="34" charset="-122"/>
                <a:cs typeface="Courier New" pitchFamily="34" charset="-120"/>
              </a:rPr>
              <a:t>   reset score</a:t>
            </a:r>
            <a:endParaRPr lang="en-US" sz="1200" dirty="0"/>
          </a:p>
          <a:p>
            <a:pPr indent="0" marL="0">
              <a:buNone/>
            </a:pPr>
            <a:r>
              <a:rPr lang="en-US" sz="1200" b="1" dirty="0">
                <a:solidFill>
                  <a:schemeClr val="bg1"/>
                </a:solidFill>
                <a:latin typeface="Courier New" pitchFamily="34" charset="0"/>
                <a:ea typeface="Courier New" pitchFamily="34" charset="-122"/>
                <a:cs typeface="Courier New" pitchFamily="34" charset="-120"/>
              </a:rPr>
              <a:t>GET  /api/games/{id}</a:t>
            </a:r>
            <a:pPr indent="0" marL="0">
              <a:buNone/>
            </a:pPr>
            <a:r>
              <a:rPr lang="en-US" sz="1200" dirty="0">
                <a:solidFill>
                  <a:schemeClr val="accent5"/>
                </a:solidFill>
                <a:latin typeface="Courier New" pitchFamily="34" charset="0"/>
                <a:ea typeface="Courier New" pitchFamily="34" charset="-122"/>
                <a:cs typeface="Courier New" pitchFamily="34" charset="-120"/>
              </a:rPr>
              <a:t>   current state</a:t>
            </a:r>
            <a:endParaRPr lang="en-US" sz="1200" dirty="0"/>
          </a:p>
        </p:txBody>
      </p:sp>
      <p:sp>
        <p:nvSpPr>
          <p:cNvPr id="35" name="key idea card"/>
          <p:cNvSpPr/>
          <p:nvPr/>
        </p:nvSpPr>
        <p:spPr>
          <a:xfrm>
            <a:off x="5577840" y="3063240"/>
            <a:ext cx="3108960" cy="1508760"/>
          </a:xfrm>
          <a:prstGeom prst="roundRect">
            <a:avLst>
              <a:gd name="adj" fmla="val 6061"/>
            </a:avLst>
          </a:prstGeom>
          <a:solidFill>
            <a:schemeClr val="bg2"/>
          </a:solidFill>
          <a:ln/>
        </p:spPr>
      </p:sp>
      <p:sp>
        <p:nvSpPr>
          <p:cNvPr id="36" name="key idea text"/>
          <p:cNvSpPr txBox="1"/>
          <p:nvPr/>
        </p:nvSpPr>
        <p:spPr>
          <a:xfrm>
            <a:off x="5760720" y="3154680"/>
            <a:ext cx="2788920" cy="132588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Why layers?</a:t>
            </a:r>
            <a:endParaRPr lang="en-US" sz="1500" dirty="0"/>
          </a:p>
          <a:p>
            <a:pPr indent="0" marL="0">
              <a:spcAft>
                <a:spcPts val="400"/>
              </a:spcAft>
              <a:buNone/>
            </a:pPr>
            <a:r>
              <a:rPr lang="en-US" sz="1400" dirty="0">
                <a:solidFill>
                  <a:schemeClr val="tx2"/>
                </a:solidFill>
              </a:rPr>
              <a:t>Each layer has one job. The game core is plain Java with no Spring code, so it could power a console or desktop app too.</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tx1"/>
                </a:solidFill>
              </a:rPr>
              <a:t>Object-oriented design</a:t>
            </a:r>
            <a:endParaRPr lang="en-US" sz="3200" dirty="0"/>
          </a:p>
        </p:txBody>
      </p:sp>
      <p:sp>
        <p:nvSpPr>
          <p:cNvPr id="3" name="oop card Abstraction"/>
          <p:cNvSpPr/>
          <p:nvPr/>
        </p:nvSpPr>
        <p:spPr>
          <a:xfrm>
            <a:off x="457200" y="1078992"/>
            <a:ext cx="2560320" cy="1664208"/>
          </a:xfrm>
          <a:prstGeom prst="roundRect">
            <a:avLst>
              <a:gd name="adj" fmla="val 5495"/>
            </a:avLst>
          </a:prstGeom>
          <a:solidFill>
            <a:schemeClr val="bg2"/>
          </a:solidFill>
          <a:ln/>
        </p:spPr>
      </p:sp>
      <p:sp>
        <p:nvSpPr>
          <p:cNvPr id="4" name="Abstraction circle"/>
          <p:cNvSpPr/>
          <p:nvPr/>
        </p:nvSpPr>
        <p:spPr>
          <a:xfrm>
            <a:off x="640080" y="1216152"/>
            <a:ext cx="438912" cy="438912"/>
          </a:xfrm>
          <a:prstGeom prst="ellipse">
            <a:avLst/>
          </a:prstGeom>
          <a:solidFill>
            <a:schemeClr val="accent1"/>
          </a:solidFill>
          <a:ln/>
        </p:spPr>
      </p:sp>
      <p:pic>
        <p:nvPicPr>
          <p:cNvPr id="5" name="Abstraction icon" descr="Abstraction">    </p:cNvPr>
          <p:cNvPicPr>
            <a:picLocks noChangeAspect="1"/>
          </p:cNvPicPr>
          <p:nvPr/>
        </p:nvPicPr>
        <p:blipFill>
          <a:blip r:embed="rId1"/>
          <a:stretch>
            <a:fillRect/>
          </a:stretch>
        </p:blipFill>
        <p:spPr>
          <a:xfrm>
            <a:off x="749808" y="1325880"/>
            <a:ext cx="219456" cy="219456"/>
          </a:xfrm>
          <a:prstGeom prst="rect">
            <a:avLst/>
          </a:prstGeom>
        </p:spPr>
      </p:pic>
      <p:sp>
        <p:nvSpPr>
          <p:cNvPr id="6" name="oop name Abstraction"/>
          <p:cNvSpPr txBox="1"/>
          <p:nvPr/>
        </p:nvSpPr>
        <p:spPr>
          <a:xfrm>
            <a:off x="1188720" y="1216152"/>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Abstraction</a:t>
            </a:r>
            <a:endParaRPr lang="en-US" sz="1600" dirty="0"/>
          </a:p>
        </p:txBody>
      </p:sp>
      <p:sp>
        <p:nvSpPr>
          <p:cNvPr id="7" name="oop classes Abstraction"/>
          <p:cNvSpPr txBox="1"/>
          <p:nvPr/>
        </p:nvSpPr>
        <p:spPr>
          <a:xfrm>
            <a:off x="640080" y="1737360"/>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player › Player</a:t>
            </a:r>
            <a:endParaRPr lang="en-US" sz="1200" dirty="0"/>
          </a:p>
          <a:p>
            <a:pPr indent="0" marL="0">
              <a:buNone/>
            </a:pPr>
            <a:r>
              <a:rPr lang="en-US" sz="1200" b="1" dirty="0">
                <a:solidFill>
                  <a:schemeClr val="accent4"/>
                </a:solidFill>
              </a:rPr>
              <a:t>strategy › MoveStrategy</a:t>
            </a:r>
            <a:endParaRPr lang="en-US" sz="1200" dirty="0"/>
          </a:p>
        </p:txBody>
      </p:sp>
      <p:sp>
        <p:nvSpPr>
          <p:cNvPr id="8" name="oop desc Abstraction"/>
          <p:cNvSpPr txBox="1"/>
          <p:nvPr/>
        </p:nvSpPr>
        <p:spPr>
          <a:xfrm>
            <a:off x="640080" y="2176272"/>
            <a:ext cx="2240280" cy="502920"/>
          </a:xfrm>
          <a:prstGeom prst="rect">
            <a:avLst/>
          </a:prstGeom>
          <a:noFill/>
          <a:ln/>
        </p:spPr>
        <p:txBody>
          <a:bodyPr wrap="square" lIns="0" tIns="0" rIns="0" bIns="0" rtlCol="0" anchor="t"/>
          <a:lstStyle/>
          <a:p>
            <a:pPr indent="0" marL="0">
              <a:buNone/>
            </a:pPr>
            <a:r>
              <a:rPr lang="en-US" sz="1300" dirty="0">
                <a:solidFill>
                  <a:schemeClr val="tx1"/>
                </a:solidFill>
              </a:rPr>
              <a:t>Abstract class / interface hide how a move is chosen</a:t>
            </a:r>
            <a:endParaRPr lang="en-US" sz="1300" dirty="0"/>
          </a:p>
        </p:txBody>
      </p:sp>
      <p:sp>
        <p:nvSpPr>
          <p:cNvPr id="9" name="oop card Encapsulation"/>
          <p:cNvSpPr/>
          <p:nvPr/>
        </p:nvSpPr>
        <p:spPr>
          <a:xfrm>
            <a:off x="3291840" y="1078992"/>
            <a:ext cx="2560320" cy="1664208"/>
          </a:xfrm>
          <a:prstGeom prst="roundRect">
            <a:avLst>
              <a:gd name="adj" fmla="val 5495"/>
            </a:avLst>
          </a:prstGeom>
          <a:solidFill>
            <a:schemeClr val="bg2"/>
          </a:solidFill>
          <a:ln/>
        </p:spPr>
      </p:sp>
      <p:sp>
        <p:nvSpPr>
          <p:cNvPr id="10" name="Encapsulation circle"/>
          <p:cNvSpPr/>
          <p:nvPr/>
        </p:nvSpPr>
        <p:spPr>
          <a:xfrm>
            <a:off x="3474720" y="1216152"/>
            <a:ext cx="438912" cy="438912"/>
          </a:xfrm>
          <a:prstGeom prst="ellipse">
            <a:avLst/>
          </a:prstGeom>
          <a:solidFill>
            <a:schemeClr val="accent2"/>
          </a:solidFill>
          <a:ln/>
        </p:spPr>
      </p:sp>
      <p:pic>
        <p:nvPicPr>
          <p:cNvPr id="11" name="Encapsulation icon" descr="Encapsulation">    </p:cNvPr>
          <p:cNvPicPr>
            <a:picLocks noChangeAspect="1"/>
          </p:cNvPicPr>
          <p:nvPr/>
        </p:nvPicPr>
        <p:blipFill>
          <a:blip r:embed="rId2"/>
          <a:stretch>
            <a:fillRect/>
          </a:stretch>
        </p:blipFill>
        <p:spPr>
          <a:xfrm>
            <a:off x="3584448" y="1325880"/>
            <a:ext cx="219456" cy="219456"/>
          </a:xfrm>
          <a:prstGeom prst="rect">
            <a:avLst/>
          </a:prstGeom>
        </p:spPr>
      </p:pic>
      <p:sp>
        <p:nvSpPr>
          <p:cNvPr id="12" name="oop name Encapsulation"/>
          <p:cNvSpPr txBox="1"/>
          <p:nvPr/>
        </p:nvSpPr>
        <p:spPr>
          <a:xfrm>
            <a:off x="4023360" y="1216152"/>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Encapsulation</a:t>
            </a:r>
            <a:endParaRPr lang="en-US" sz="1600" dirty="0"/>
          </a:p>
        </p:txBody>
      </p:sp>
      <p:sp>
        <p:nvSpPr>
          <p:cNvPr id="13" name="oop classes Encapsulation"/>
          <p:cNvSpPr txBox="1"/>
          <p:nvPr/>
        </p:nvSpPr>
        <p:spPr>
          <a:xfrm>
            <a:off x="3474720" y="1737360"/>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model › Scoreboard, Game</a:t>
            </a:r>
            <a:endParaRPr lang="en-US" sz="1200" dirty="0"/>
          </a:p>
        </p:txBody>
      </p:sp>
      <p:sp>
        <p:nvSpPr>
          <p:cNvPr id="14" name="oop desc Encapsulation"/>
          <p:cNvSpPr txBox="1"/>
          <p:nvPr/>
        </p:nvSpPr>
        <p:spPr>
          <a:xfrm>
            <a:off x="3474720" y="2176272"/>
            <a:ext cx="2240280" cy="502920"/>
          </a:xfrm>
          <a:prstGeom prst="rect">
            <a:avLst/>
          </a:prstGeom>
          <a:noFill/>
          <a:ln/>
        </p:spPr>
        <p:txBody>
          <a:bodyPr wrap="square" lIns="0" tIns="0" rIns="0" bIns="0" rtlCol="0" anchor="t"/>
          <a:lstStyle/>
          <a:p>
            <a:pPr indent="0" marL="0">
              <a:buNone/>
            </a:pPr>
            <a:r>
              <a:rPr lang="en-US" sz="1300" dirty="0">
                <a:solidFill>
                  <a:schemeClr val="tx1"/>
                </a:solidFill>
              </a:rPr>
              <a:t>Private fields, changed only via record() / playRound()</a:t>
            </a:r>
            <a:endParaRPr lang="en-US" sz="1300" dirty="0"/>
          </a:p>
        </p:txBody>
      </p:sp>
      <p:sp>
        <p:nvSpPr>
          <p:cNvPr id="15" name="oop card Inheritance"/>
          <p:cNvSpPr/>
          <p:nvPr/>
        </p:nvSpPr>
        <p:spPr>
          <a:xfrm>
            <a:off x="6126480" y="1078992"/>
            <a:ext cx="2560320" cy="1664208"/>
          </a:xfrm>
          <a:prstGeom prst="roundRect">
            <a:avLst>
              <a:gd name="adj" fmla="val 5495"/>
            </a:avLst>
          </a:prstGeom>
          <a:solidFill>
            <a:schemeClr val="bg2"/>
          </a:solidFill>
          <a:ln/>
        </p:spPr>
      </p:sp>
      <p:sp>
        <p:nvSpPr>
          <p:cNvPr id="16" name="Inheritance circle"/>
          <p:cNvSpPr/>
          <p:nvPr/>
        </p:nvSpPr>
        <p:spPr>
          <a:xfrm>
            <a:off x="6309360" y="1216152"/>
            <a:ext cx="438912" cy="438912"/>
          </a:xfrm>
          <a:prstGeom prst="ellipse">
            <a:avLst/>
          </a:prstGeom>
          <a:solidFill>
            <a:schemeClr val="accent3"/>
          </a:solidFill>
          <a:ln/>
        </p:spPr>
      </p:sp>
      <p:pic>
        <p:nvPicPr>
          <p:cNvPr id="17" name="Inheritance icon" descr="Inheritance">    </p:cNvPr>
          <p:cNvPicPr>
            <a:picLocks noChangeAspect="1"/>
          </p:cNvPicPr>
          <p:nvPr/>
        </p:nvPicPr>
        <p:blipFill>
          <a:blip r:embed="rId3"/>
          <a:stretch>
            <a:fillRect/>
          </a:stretch>
        </p:blipFill>
        <p:spPr>
          <a:xfrm>
            <a:off x="6419088" y="1325880"/>
            <a:ext cx="219456" cy="219456"/>
          </a:xfrm>
          <a:prstGeom prst="rect">
            <a:avLst/>
          </a:prstGeom>
        </p:spPr>
      </p:pic>
      <p:sp>
        <p:nvSpPr>
          <p:cNvPr id="18" name="oop name Inheritance"/>
          <p:cNvSpPr txBox="1"/>
          <p:nvPr/>
        </p:nvSpPr>
        <p:spPr>
          <a:xfrm>
            <a:off x="6858000" y="1216152"/>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Inheritance</a:t>
            </a:r>
            <a:endParaRPr lang="en-US" sz="1600" dirty="0"/>
          </a:p>
        </p:txBody>
      </p:sp>
      <p:sp>
        <p:nvSpPr>
          <p:cNvPr id="19" name="oop classes Inheritance"/>
          <p:cNvSpPr txBox="1"/>
          <p:nvPr/>
        </p:nvSpPr>
        <p:spPr>
          <a:xfrm>
            <a:off x="6309360" y="1737360"/>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player › HumanPlayer, ComputerPlayer</a:t>
            </a:r>
            <a:endParaRPr lang="en-US" sz="1200" dirty="0"/>
          </a:p>
        </p:txBody>
      </p:sp>
      <p:sp>
        <p:nvSpPr>
          <p:cNvPr id="20" name="oop desc Inheritance"/>
          <p:cNvSpPr txBox="1"/>
          <p:nvPr/>
        </p:nvSpPr>
        <p:spPr>
          <a:xfrm>
            <a:off x="6309360" y="2176272"/>
            <a:ext cx="2240280" cy="502920"/>
          </a:xfrm>
          <a:prstGeom prst="rect">
            <a:avLst/>
          </a:prstGeom>
          <a:noFill/>
          <a:ln/>
        </p:spPr>
        <p:txBody>
          <a:bodyPr wrap="square" lIns="0" tIns="0" rIns="0" bIns="0" rtlCol="0" anchor="t"/>
          <a:lstStyle/>
          <a:p>
            <a:pPr indent="0" marL="0">
              <a:buNone/>
            </a:pPr>
            <a:r>
              <a:rPr lang="en-US" sz="1300" dirty="0">
                <a:solidFill>
                  <a:schemeClr val="tx1"/>
                </a:solidFill>
              </a:rPr>
              <a:t>Both extend Player and override chooseMove()</a:t>
            </a:r>
            <a:endParaRPr lang="en-US" sz="1300" dirty="0"/>
          </a:p>
        </p:txBody>
      </p:sp>
      <p:sp>
        <p:nvSpPr>
          <p:cNvPr id="21" name="oop card Polymorphism"/>
          <p:cNvSpPr/>
          <p:nvPr/>
        </p:nvSpPr>
        <p:spPr>
          <a:xfrm>
            <a:off x="457200" y="2926080"/>
            <a:ext cx="2560320" cy="1664208"/>
          </a:xfrm>
          <a:prstGeom prst="roundRect">
            <a:avLst>
              <a:gd name="adj" fmla="val 5495"/>
            </a:avLst>
          </a:prstGeom>
          <a:solidFill>
            <a:schemeClr val="bg2"/>
          </a:solidFill>
          <a:ln/>
        </p:spPr>
      </p:sp>
      <p:sp>
        <p:nvSpPr>
          <p:cNvPr id="22" name="Polymorphism circle"/>
          <p:cNvSpPr/>
          <p:nvPr/>
        </p:nvSpPr>
        <p:spPr>
          <a:xfrm>
            <a:off x="640080" y="3063240"/>
            <a:ext cx="438912" cy="438912"/>
          </a:xfrm>
          <a:prstGeom prst="ellipse">
            <a:avLst/>
          </a:prstGeom>
          <a:solidFill>
            <a:schemeClr val="accent4"/>
          </a:solidFill>
          <a:ln/>
        </p:spPr>
      </p:sp>
      <p:pic>
        <p:nvPicPr>
          <p:cNvPr id="23" name="Polymorphism icon" descr="Polymorphism">    </p:cNvPr>
          <p:cNvPicPr>
            <a:picLocks noChangeAspect="1"/>
          </p:cNvPicPr>
          <p:nvPr/>
        </p:nvPicPr>
        <p:blipFill>
          <a:blip r:embed="rId4"/>
          <a:stretch>
            <a:fillRect/>
          </a:stretch>
        </p:blipFill>
        <p:spPr>
          <a:xfrm>
            <a:off x="749808" y="3172968"/>
            <a:ext cx="219456" cy="219456"/>
          </a:xfrm>
          <a:prstGeom prst="rect">
            <a:avLst/>
          </a:prstGeom>
        </p:spPr>
      </p:pic>
      <p:sp>
        <p:nvSpPr>
          <p:cNvPr id="24" name="oop name Polymorphism"/>
          <p:cNvSpPr txBox="1"/>
          <p:nvPr/>
        </p:nvSpPr>
        <p:spPr>
          <a:xfrm>
            <a:off x="1188720" y="3063240"/>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Polymorphism</a:t>
            </a:r>
            <a:endParaRPr lang="en-US" sz="1600" dirty="0"/>
          </a:p>
        </p:txBody>
      </p:sp>
      <p:sp>
        <p:nvSpPr>
          <p:cNvPr id="25" name="oop classes Polymorphism"/>
          <p:cNvSpPr txBox="1"/>
          <p:nvPr/>
        </p:nvSpPr>
        <p:spPr>
          <a:xfrm>
            <a:off x="640080" y="3584448"/>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Player.chooseMove()</a:t>
            </a:r>
            <a:endParaRPr lang="en-US" sz="1200" dirty="0"/>
          </a:p>
          <a:p>
            <a:pPr indent="0" marL="0">
              <a:buNone/>
            </a:pPr>
            <a:r>
              <a:rPr lang="en-US" sz="1200" b="1" dirty="0">
                <a:solidFill>
                  <a:schemeClr val="accent4"/>
                </a:solidFill>
              </a:rPr>
              <a:t>MoveStrategy.nextMove()</a:t>
            </a:r>
            <a:endParaRPr lang="en-US" sz="1200" dirty="0"/>
          </a:p>
        </p:txBody>
      </p:sp>
      <p:sp>
        <p:nvSpPr>
          <p:cNvPr id="26" name="oop desc Polymorphism"/>
          <p:cNvSpPr txBox="1"/>
          <p:nvPr/>
        </p:nvSpPr>
        <p:spPr>
          <a:xfrm>
            <a:off x="640080" y="4023360"/>
            <a:ext cx="2240280" cy="502920"/>
          </a:xfrm>
          <a:prstGeom prst="rect">
            <a:avLst/>
          </a:prstGeom>
          <a:noFill/>
          <a:ln/>
        </p:spPr>
        <p:txBody>
          <a:bodyPr wrap="square" lIns="0" tIns="0" rIns="0" bIns="0" rtlCol="0" anchor="t"/>
          <a:lstStyle/>
          <a:p>
            <a:pPr indent="0" marL="0">
              <a:buNone/>
            </a:pPr>
            <a:r>
              <a:rPr lang="en-US" sz="1300" dirty="0">
                <a:solidFill>
                  <a:schemeClr val="tx1"/>
                </a:solidFill>
              </a:rPr>
              <a:t>Same call, different behaviour per subclass</a:t>
            </a:r>
            <a:endParaRPr lang="en-US" sz="1300" dirty="0"/>
          </a:p>
        </p:txBody>
      </p:sp>
      <p:sp>
        <p:nvSpPr>
          <p:cNvPr id="27" name="oop card Composition"/>
          <p:cNvSpPr/>
          <p:nvPr/>
        </p:nvSpPr>
        <p:spPr>
          <a:xfrm>
            <a:off x="3291840" y="2926080"/>
            <a:ext cx="2560320" cy="1664208"/>
          </a:xfrm>
          <a:prstGeom prst="roundRect">
            <a:avLst>
              <a:gd name="adj" fmla="val 5495"/>
            </a:avLst>
          </a:prstGeom>
          <a:solidFill>
            <a:schemeClr val="bg2"/>
          </a:solidFill>
          <a:ln/>
        </p:spPr>
      </p:sp>
      <p:sp>
        <p:nvSpPr>
          <p:cNvPr id="28" name="Composition circle"/>
          <p:cNvSpPr/>
          <p:nvPr/>
        </p:nvSpPr>
        <p:spPr>
          <a:xfrm>
            <a:off x="3474720" y="3063240"/>
            <a:ext cx="438912" cy="438912"/>
          </a:xfrm>
          <a:prstGeom prst="ellipse">
            <a:avLst/>
          </a:prstGeom>
          <a:solidFill>
            <a:schemeClr val="accent3"/>
          </a:solidFill>
          <a:ln/>
        </p:spPr>
      </p:sp>
      <p:pic>
        <p:nvPicPr>
          <p:cNvPr id="29" name="Composition icon" descr="Composition">    </p:cNvPr>
          <p:cNvPicPr>
            <a:picLocks noChangeAspect="1"/>
          </p:cNvPicPr>
          <p:nvPr/>
        </p:nvPicPr>
        <p:blipFill>
          <a:blip r:embed="rId5"/>
          <a:stretch>
            <a:fillRect/>
          </a:stretch>
        </p:blipFill>
        <p:spPr>
          <a:xfrm>
            <a:off x="3584448" y="3172968"/>
            <a:ext cx="219456" cy="219456"/>
          </a:xfrm>
          <a:prstGeom prst="rect">
            <a:avLst/>
          </a:prstGeom>
        </p:spPr>
      </p:pic>
      <p:sp>
        <p:nvSpPr>
          <p:cNvPr id="30" name="oop name Composition"/>
          <p:cNvSpPr txBox="1"/>
          <p:nvPr/>
        </p:nvSpPr>
        <p:spPr>
          <a:xfrm>
            <a:off x="4023360" y="3063240"/>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Composition</a:t>
            </a:r>
            <a:endParaRPr lang="en-US" sz="1600" dirty="0"/>
          </a:p>
        </p:txBody>
      </p:sp>
      <p:sp>
        <p:nvSpPr>
          <p:cNvPr id="31" name="oop classes Composition"/>
          <p:cNvSpPr txBox="1"/>
          <p:nvPr/>
        </p:nvSpPr>
        <p:spPr>
          <a:xfrm>
            <a:off x="3474720" y="3584448"/>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model › Game</a:t>
            </a:r>
            <a:endParaRPr lang="en-US" sz="1200" dirty="0"/>
          </a:p>
          <a:p>
            <a:pPr indent="0" marL="0">
              <a:buNone/>
            </a:pPr>
            <a:r>
              <a:rPr lang="en-US" sz="1200" b="1" dirty="0">
                <a:solidFill>
                  <a:schemeClr val="accent4"/>
                </a:solidFill>
              </a:rPr>
              <a:t>player › ComputerPlayer</a:t>
            </a:r>
            <a:endParaRPr lang="en-US" sz="1200" dirty="0"/>
          </a:p>
        </p:txBody>
      </p:sp>
      <p:sp>
        <p:nvSpPr>
          <p:cNvPr id="32" name="oop desc Composition"/>
          <p:cNvSpPr txBox="1"/>
          <p:nvPr/>
        </p:nvSpPr>
        <p:spPr>
          <a:xfrm>
            <a:off x="3474720" y="4023360"/>
            <a:ext cx="2240280" cy="502920"/>
          </a:xfrm>
          <a:prstGeom prst="rect">
            <a:avLst/>
          </a:prstGeom>
          <a:noFill/>
          <a:ln/>
        </p:spPr>
        <p:txBody>
          <a:bodyPr wrap="square" lIns="0" tIns="0" rIns="0" bIns="0" rtlCol="0" anchor="t"/>
          <a:lstStyle/>
          <a:p>
            <a:pPr indent="0" marL="0">
              <a:buNone/>
            </a:pPr>
            <a:r>
              <a:rPr lang="en-US" sz="1300" dirty="0">
                <a:solidFill>
                  <a:schemeClr val="tx1"/>
                </a:solidFill>
              </a:rPr>
              <a:t>Game has players + score; ComputerPlayer has a strategy</a:t>
            </a:r>
            <a:endParaRPr lang="en-US" sz="1300" dirty="0"/>
          </a:p>
        </p:txBody>
      </p:sp>
      <p:sp>
        <p:nvSpPr>
          <p:cNvPr id="33" name="oop card Strategy pattern"/>
          <p:cNvSpPr/>
          <p:nvPr/>
        </p:nvSpPr>
        <p:spPr>
          <a:xfrm>
            <a:off x="6126480" y="2926080"/>
            <a:ext cx="2560320" cy="1664208"/>
          </a:xfrm>
          <a:prstGeom prst="roundRect">
            <a:avLst>
              <a:gd name="adj" fmla="val 5495"/>
            </a:avLst>
          </a:prstGeom>
          <a:solidFill>
            <a:schemeClr val="bg2"/>
          </a:solidFill>
          <a:ln/>
        </p:spPr>
      </p:sp>
      <p:sp>
        <p:nvSpPr>
          <p:cNvPr id="34" name="Strategy pattern circle"/>
          <p:cNvSpPr/>
          <p:nvPr/>
        </p:nvSpPr>
        <p:spPr>
          <a:xfrm>
            <a:off x="6309360" y="3063240"/>
            <a:ext cx="438912" cy="438912"/>
          </a:xfrm>
          <a:prstGeom prst="ellipse">
            <a:avLst/>
          </a:prstGeom>
          <a:solidFill>
            <a:schemeClr val="accent1"/>
          </a:solidFill>
          <a:ln/>
        </p:spPr>
      </p:sp>
      <p:pic>
        <p:nvPicPr>
          <p:cNvPr id="35" name="Strategy pattern icon" descr="Strategy pattern">    </p:cNvPr>
          <p:cNvPicPr>
            <a:picLocks noChangeAspect="1"/>
          </p:cNvPicPr>
          <p:nvPr/>
        </p:nvPicPr>
        <p:blipFill>
          <a:blip r:embed="rId6"/>
          <a:stretch>
            <a:fillRect/>
          </a:stretch>
        </p:blipFill>
        <p:spPr>
          <a:xfrm>
            <a:off x="6419088" y="3172968"/>
            <a:ext cx="219456" cy="219456"/>
          </a:xfrm>
          <a:prstGeom prst="rect">
            <a:avLst/>
          </a:prstGeom>
        </p:spPr>
      </p:pic>
      <p:sp>
        <p:nvSpPr>
          <p:cNvPr id="36" name="oop name Strategy pattern"/>
          <p:cNvSpPr txBox="1"/>
          <p:nvPr/>
        </p:nvSpPr>
        <p:spPr>
          <a:xfrm>
            <a:off x="6858000" y="3063240"/>
            <a:ext cx="1691640" cy="438912"/>
          </a:xfrm>
          <a:prstGeom prst="rect">
            <a:avLst/>
          </a:prstGeom>
          <a:noFill/>
          <a:ln/>
        </p:spPr>
        <p:txBody>
          <a:bodyPr wrap="square" lIns="0" tIns="0" rIns="0" bIns="0" rtlCol="0" anchor="ctr"/>
          <a:lstStyle/>
          <a:p>
            <a:pPr indent="0" marL="0">
              <a:buNone/>
            </a:pPr>
            <a:r>
              <a:rPr lang="en-US" sz="1600" b="1" dirty="0">
                <a:solidFill>
                  <a:schemeClr val="tx1"/>
                </a:solidFill>
              </a:rPr>
              <a:t>Strategy pattern</a:t>
            </a:r>
            <a:endParaRPr lang="en-US" sz="1600" dirty="0"/>
          </a:p>
        </p:txBody>
      </p:sp>
      <p:sp>
        <p:nvSpPr>
          <p:cNvPr id="37" name="oop classes Strategy pattern"/>
          <p:cNvSpPr txBox="1"/>
          <p:nvPr/>
        </p:nvSpPr>
        <p:spPr>
          <a:xfrm>
            <a:off x="6309360" y="3584448"/>
            <a:ext cx="2240280" cy="411480"/>
          </a:xfrm>
          <a:prstGeom prst="rect">
            <a:avLst/>
          </a:prstGeom>
          <a:noFill/>
          <a:ln/>
        </p:spPr>
        <p:txBody>
          <a:bodyPr wrap="square" lIns="0" tIns="0" rIns="0" bIns="0" rtlCol="0" anchor="t"/>
          <a:lstStyle/>
          <a:p>
            <a:pPr indent="0" marL="0">
              <a:buNone/>
            </a:pPr>
            <a:r>
              <a:rPr lang="en-US" sz="1200" b="1" dirty="0">
                <a:solidFill>
                  <a:schemeClr val="accent4"/>
                </a:solidFill>
              </a:rPr>
              <a:t>strategy › RandomStrategy, FrequencyStrategy</a:t>
            </a:r>
            <a:endParaRPr lang="en-US" sz="1200" dirty="0"/>
          </a:p>
        </p:txBody>
      </p:sp>
      <p:sp>
        <p:nvSpPr>
          <p:cNvPr id="38" name="oop desc Strategy pattern"/>
          <p:cNvSpPr txBox="1"/>
          <p:nvPr/>
        </p:nvSpPr>
        <p:spPr>
          <a:xfrm>
            <a:off x="6309360" y="4023360"/>
            <a:ext cx="2240280" cy="502920"/>
          </a:xfrm>
          <a:prstGeom prst="rect">
            <a:avLst/>
          </a:prstGeom>
          <a:noFill/>
          <a:ln/>
        </p:spPr>
        <p:txBody>
          <a:bodyPr wrap="square" lIns="0" tIns="0" rIns="0" bIns="0" rtlCol="0" anchor="t"/>
          <a:lstStyle/>
          <a:p>
            <a:pPr indent="0" marL="0">
              <a:buNone/>
            </a:pPr>
            <a:r>
              <a:rPr lang="en-US" sz="1300" dirty="0">
                <a:solidFill>
                  <a:schemeClr val="tx1"/>
                </a:solidFill>
              </a:rPr>
              <a:t>Easy / Hard AI swapped without changing ComputerPlayer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chemeClr val="bg1"/>
                </a:solidFill>
              </a:rPr>
              <a:t>The computer AI and running it</a:t>
            </a:r>
            <a:endParaRPr lang="en-US" sz="3200" dirty="0"/>
          </a:p>
        </p:txBody>
      </p:sp>
      <p:sp>
        <p:nvSpPr>
          <p:cNvPr id="3" name="ai card Easy"/>
          <p:cNvSpPr/>
          <p:nvPr/>
        </p:nvSpPr>
        <p:spPr>
          <a:xfrm>
            <a:off x="457200" y="1097280"/>
            <a:ext cx="4114800" cy="1005840"/>
          </a:xfrm>
          <a:prstGeom prst="roundRect">
            <a:avLst>
              <a:gd name="adj" fmla="val 9091"/>
            </a:avLst>
          </a:prstGeom>
          <a:solidFill>
            <a:schemeClr val="tx2"/>
          </a:solidFill>
          <a:ln/>
        </p:spPr>
      </p:sp>
      <p:sp>
        <p:nvSpPr>
          <p:cNvPr id="4" name="Easy circle"/>
          <p:cNvSpPr/>
          <p:nvPr/>
        </p:nvSpPr>
        <p:spPr>
          <a:xfrm>
            <a:off x="658368" y="1325880"/>
            <a:ext cx="548640" cy="548640"/>
          </a:xfrm>
          <a:prstGeom prst="ellipse">
            <a:avLst/>
          </a:prstGeom>
          <a:solidFill>
            <a:schemeClr val="accent3"/>
          </a:solidFill>
          <a:ln/>
        </p:spPr>
      </p:sp>
      <p:pic>
        <p:nvPicPr>
          <p:cNvPr id="5" name="Easy icon" descr="Easy">    </p:cNvPr>
          <p:cNvPicPr>
            <a:picLocks noChangeAspect="1"/>
          </p:cNvPicPr>
          <p:nvPr/>
        </p:nvPicPr>
        <p:blipFill>
          <a:blip r:embed="rId1"/>
          <a:stretch>
            <a:fillRect/>
          </a:stretch>
        </p:blipFill>
        <p:spPr>
          <a:xfrm>
            <a:off x="795528" y="1463040"/>
            <a:ext cx="274320" cy="274320"/>
          </a:xfrm>
          <a:prstGeom prst="rect">
            <a:avLst/>
          </a:prstGeom>
        </p:spPr>
      </p:pic>
      <p:sp>
        <p:nvSpPr>
          <p:cNvPr id="6" name="ai text Easy"/>
          <p:cNvSpPr txBox="1"/>
          <p:nvPr/>
        </p:nvSpPr>
        <p:spPr>
          <a:xfrm>
            <a:off x="1417320" y="1188720"/>
            <a:ext cx="3017520" cy="822960"/>
          </a:xfrm>
          <a:prstGeom prst="rect">
            <a:avLst/>
          </a:prstGeom>
          <a:noFill/>
          <a:ln/>
        </p:spPr>
        <p:txBody>
          <a:bodyPr wrap="square" lIns="0" tIns="0" rIns="0" bIns="0" rtlCol="0" anchor="ctr"/>
          <a:lstStyle/>
          <a:p>
            <a:pPr indent="0" marL="0">
              <a:buNone/>
            </a:pPr>
            <a:r>
              <a:rPr lang="en-US" sz="1800" b="1" dirty="0">
                <a:solidFill>
                  <a:schemeClr val="bg1"/>
                </a:solidFill>
              </a:rPr>
              <a:t>Easy  </a:t>
            </a:r>
            <a:pPr indent="0" marL="0">
              <a:buNone/>
            </a:pPr>
            <a:r>
              <a:rPr lang="en-US" sz="1200" dirty="0">
                <a:solidFill>
                  <a:schemeClr val="accent5"/>
                </a:solidFill>
              </a:rPr>
              <a:t>RandomStrategy</a:t>
            </a:r>
            <a:endParaRPr lang="en-US" sz="1800" dirty="0"/>
          </a:p>
          <a:p>
            <a:pPr indent="0" marL="0">
              <a:buNone/>
            </a:pPr>
            <a:r>
              <a:rPr lang="en-US" sz="1400" dirty="0">
                <a:solidFill>
                  <a:schemeClr val="bg1"/>
                </a:solidFill>
              </a:rPr>
              <a:t>Picks Rock, Paper or Scissors at random</a:t>
            </a:r>
            <a:endParaRPr lang="en-US" sz="1800" dirty="0"/>
          </a:p>
        </p:txBody>
      </p:sp>
      <p:sp>
        <p:nvSpPr>
          <p:cNvPr id="7" name="ai card Hard"/>
          <p:cNvSpPr/>
          <p:nvPr/>
        </p:nvSpPr>
        <p:spPr>
          <a:xfrm>
            <a:off x="457200" y="2286000"/>
            <a:ext cx="4114800" cy="1005840"/>
          </a:xfrm>
          <a:prstGeom prst="roundRect">
            <a:avLst>
              <a:gd name="adj" fmla="val 9091"/>
            </a:avLst>
          </a:prstGeom>
          <a:solidFill>
            <a:schemeClr val="tx2"/>
          </a:solidFill>
          <a:ln/>
        </p:spPr>
      </p:sp>
      <p:sp>
        <p:nvSpPr>
          <p:cNvPr id="8" name="Hard circle"/>
          <p:cNvSpPr/>
          <p:nvPr/>
        </p:nvSpPr>
        <p:spPr>
          <a:xfrm>
            <a:off x="658368" y="2514600"/>
            <a:ext cx="548640" cy="548640"/>
          </a:xfrm>
          <a:prstGeom prst="ellipse">
            <a:avLst/>
          </a:prstGeom>
          <a:solidFill>
            <a:schemeClr val="accent1"/>
          </a:solidFill>
          <a:ln/>
        </p:spPr>
      </p:sp>
      <p:pic>
        <p:nvPicPr>
          <p:cNvPr id="9" name="Hard icon" descr="Hard">    </p:cNvPr>
          <p:cNvPicPr>
            <a:picLocks noChangeAspect="1"/>
          </p:cNvPicPr>
          <p:nvPr/>
        </p:nvPicPr>
        <p:blipFill>
          <a:blip r:embed="rId2"/>
          <a:stretch>
            <a:fillRect/>
          </a:stretch>
        </p:blipFill>
        <p:spPr>
          <a:xfrm>
            <a:off x="795528" y="2651760"/>
            <a:ext cx="274320" cy="274320"/>
          </a:xfrm>
          <a:prstGeom prst="rect">
            <a:avLst/>
          </a:prstGeom>
        </p:spPr>
      </p:pic>
      <p:sp>
        <p:nvSpPr>
          <p:cNvPr id="10" name="ai text Hard"/>
          <p:cNvSpPr txBox="1"/>
          <p:nvPr/>
        </p:nvSpPr>
        <p:spPr>
          <a:xfrm>
            <a:off x="1417320" y="2377440"/>
            <a:ext cx="3017520" cy="822960"/>
          </a:xfrm>
          <a:prstGeom prst="rect">
            <a:avLst/>
          </a:prstGeom>
          <a:noFill/>
          <a:ln/>
        </p:spPr>
        <p:txBody>
          <a:bodyPr wrap="square" lIns="0" tIns="0" rIns="0" bIns="0" rtlCol="0" anchor="ctr"/>
          <a:lstStyle/>
          <a:p>
            <a:pPr indent="0" marL="0">
              <a:buNone/>
            </a:pPr>
            <a:r>
              <a:rPr lang="en-US" sz="1800" b="1" dirty="0">
                <a:solidFill>
                  <a:schemeClr val="bg1"/>
                </a:solidFill>
              </a:rPr>
              <a:t>Hard  </a:t>
            </a:r>
            <a:pPr indent="0" marL="0">
              <a:buNone/>
            </a:pPr>
            <a:r>
              <a:rPr lang="en-US" sz="1200" dirty="0">
                <a:solidFill>
                  <a:schemeClr val="accent5"/>
                </a:solidFill>
              </a:rPr>
              <a:t>FrequencyStrategy</a:t>
            </a:r>
            <a:endParaRPr lang="en-US" sz="1800" dirty="0"/>
          </a:p>
          <a:p>
            <a:pPr indent="0" marL="0">
              <a:buNone/>
            </a:pPr>
            <a:r>
              <a:rPr lang="en-US" sz="1400" dirty="0">
                <a:solidFill>
                  <a:schemeClr val="bg1"/>
                </a:solidFill>
              </a:rPr>
              <a:t>Counts your moves and plays what beats your favourite</a:t>
            </a:r>
            <a:endParaRPr lang="en-US" sz="1800" dirty="0"/>
          </a:p>
        </p:txBody>
      </p:sp>
      <p:sp>
        <p:nvSpPr>
          <p:cNvPr id="11" name="ai tagline"/>
          <p:cNvSpPr txBox="1"/>
          <p:nvPr/>
        </p:nvSpPr>
        <p:spPr>
          <a:xfrm>
            <a:off x="457200" y="3520440"/>
            <a:ext cx="4114800" cy="548640"/>
          </a:xfrm>
          <a:prstGeom prst="rect">
            <a:avLst/>
          </a:prstGeom>
          <a:noFill/>
          <a:ln/>
        </p:spPr>
        <p:txBody>
          <a:bodyPr wrap="square" lIns="0" tIns="0" rIns="0" bIns="0" rtlCol="0" anchor="ctr"/>
          <a:lstStyle/>
          <a:p>
            <a:pPr indent="0" marL="0">
              <a:buNone/>
            </a:pPr>
            <a:r>
              <a:rPr lang="en-US" sz="1400" i="1" dirty="0">
                <a:solidFill>
                  <a:schemeClr val="accent2"/>
                </a:solidFill>
              </a:rPr>
              <a:t>New AI level = one new MoveStrategy class + one Difficulty constant</a:t>
            </a:r>
            <a:endParaRPr lang="en-US" sz="1400" dirty="0"/>
          </a:p>
        </p:txBody>
      </p:sp>
      <p:sp>
        <p:nvSpPr>
          <p:cNvPr id="12" name="run heading"/>
          <p:cNvSpPr txBox="1"/>
          <p:nvPr/>
        </p:nvSpPr>
        <p:spPr>
          <a:xfrm>
            <a:off x="5029200" y="1097280"/>
            <a:ext cx="3657600" cy="365760"/>
          </a:xfrm>
          <a:prstGeom prst="rect">
            <a:avLst/>
          </a:prstGeom>
          <a:noFill/>
          <a:ln/>
        </p:spPr>
        <p:txBody>
          <a:bodyPr wrap="square" lIns="0" tIns="0" rIns="0" bIns="0" rtlCol="0" anchor="ctr"/>
          <a:lstStyle/>
          <a:p>
            <a:pPr indent="0" marL="0">
              <a:buNone/>
            </a:pPr>
            <a:r>
              <a:rPr lang="en-US" sz="1800" b="1" dirty="0">
                <a:solidFill>
                  <a:schemeClr val="bg1"/>
                </a:solidFill>
              </a:rPr>
              <a:t>Run it</a:t>
            </a:r>
            <a:endParaRPr lang="en-US" sz="1800" dirty="0"/>
          </a:p>
        </p:txBody>
      </p:sp>
      <p:sp>
        <p:nvSpPr>
          <p:cNvPr id="13" name="step num 1"/>
          <p:cNvSpPr txBox="1"/>
          <p:nvPr/>
        </p:nvSpPr>
        <p:spPr>
          <a:xfrm>
            <a:off x="5029200" y="1627632"/>
            <a:ext cx="457200" cy="45720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14" name="step text 1"/>
          <p:cNvSpPr txBox="1"/>
          <p:nvPr/>
        </p:nvSpPr>
        <p:spPr>
          <a:xfrm>
            <a:off x="5669280" y="1554480"/>
            <a:ext cx="3017520" cy="603504"/>
          </a:xfrm>
          <a:prstGeom prst="rect">
            <a:avLst/>
          </a:prstGeom>
          <a:noFill/>
          <a:ln/>
        </p:spPr>
        <p:txBody>
          <a:bodyPr wrap="square" lIns="0" tIns="0" rIns="0" bIns="0" rtlCol="0" anchor="ctr"/>
          <a:lstStyle/>
          <a:p>
            <a:pPr indent="0" marL="0">
              <a:buNone/>
            </a:pPr>
            <a:r>
              <a:rPr lang="en-US" sz="1500" b="1" dirty="0">
                <a:solidFill>
                  <a:schemeClr val="bg1"/>
                </a:solidFill>
              </a:rPr>
              <a:t>Install Java 17+ and Maven</a:t>
            </a:r>
            <a:endParaRPr lang="en-US" sz="1500" dirty="0"/>
          </a:p>
        </p:txBody>
      </p:sp>
      <p:sp>
        <p:nvSpPr>
          <p:cNvPr id="15" name="step num 2"/>
          <p:cNvSpPr txBox="1"/>
          <p:nvPr/>
        </p:nvSpPr>
        <p:spPr>
          <a:xfrm>
            <a:off x="5029200" y="2404872"/>
            <a:ext cx="457200" cy="457200"/>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6" name="step text 2"/>
          <p:cNvSpPr txBox="1"/>
          <p:nvPr/>
        </p:nvSpPr>
        <p:spPr>
          <a:xfrm>
            <a:off x="5669280" y="2331720"/>
            <a:ext cx="3017520" cy="603504"/>
          </a:xfrm>
          <a:prstGeom prst="rect">
            <a:avLst/>
          </a:prstGeom>
          <a:noFill/>
          <a:ln/>
        </p:spPr>
        <p:txBody>
          <a:bodyPr wrap="square" lIns="0" tIns="0" rIns="0" bIns="0" rtlCol="0" anchor="ctr"/>
          <a:lstStyle/>
          <a:p>
            <a:pPr indent="0" marL="0">
              <a:buNone/>
            </a:pPr>
            <a:r>
              <a:rPr lang="en-US" sz="1500" b="1" dirty="0">
                <a:solidFill>
                  <a:schemeClr val="bg1"/>
                </a:solidFill>
              </a:rPr>
              <a:t>Start the server</a:t>
            </a:r>
            <a:endParaRPr lang="en-US" sz="1500" dirty="0"/>
          </a:p>
          <a:p>
            <a:pPr indent="0" marL="0">
              <a:buNone/>
            </a:pPr>
            <a:r>
              <a:rPr lang="en-US" sz="1300" dirty="0">
                <a:solidFill>
                  <a:schemeClr val="accent2"/>
                </a:solidFill>
                <a:latin typeface="Courier New" pitchFamily="34" charset="0"/>
                <a:ea typeface="Courier New" pitchFamily="34" charset="-122"/>
                <a:cs typeface="Courier New" pitchFamily="34" charset="-120"/>
              </a:rPr>
              <a:t>mvn spring-boot:run</a:t>
            </a:r>
            <a:endParaRPr lang="en-US" sz="1500" dirty="0"/>
          </a:p>
        </p:txBody>
      </p:sp>
      <p:sp>
        <p:nvSpPr>
          <p:cNvPr id="17" name="step num 3"/>
          <p:cNvSpPr txBox="1"/>
          <p:nvPr/>
        </p:nvSpPr>
        <p:spPr>
          <a:xfrm>
            <a:off x="5029200" y="3182112"/>
            <a:ext cx="457200" cy="457200"/>
          </a:xfrm>
          <a:prstGeom prst="ellipse">
            <a:avLst/>
          </a:prstGeom>
          <a:solidFill>
            <a:schemeClr val="accent3"/>
          </a:solid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step text 3"/>
          <p:cNvSpPr txBox="1"/>
          <p:nvPr/>
        </p:nvSpPr>
        <p:spPr>
          <a:xfrm>
            <a:off x="5669280" y="3108960"/>
            <a:ext cx="3017520" cy="603504"/>
          </a:xfrm>
          <a:prstGeom prst="rect">
            <a:avLst/>
          </a:prstGeom>
          <a:noFill/>
          <a:ln/>
        </p:spPr>
        <p:txBody>
          <a:bodyPr wrap="square" lIns="0" tIns="0" rIns="0" bIns="0" rtlCol="0" anchor="ctr"/>
          <a:lstStyle/>
          <a:p>
            <a:pPr indent="0" marL="0">
              <a:buNone/>
            </a:pPr>
            <a:r>
              <a:rPr lang="en-US" sz="1500" b="1" dirty="0">
                <a:solidFill>
                  <a:schemeClr val="bg1"/>
                </a:solidFill>
              </a:rPr>
              <a:t>Open the game</a:t>
            </a:r>
            <a:endParaRPr lang="en-US" sz="1500" dirty="0"/>
          </a:p>
          <a:p>
            <a:pPr indent="0" marL="0">
              <a:buNone/>
            </a:pPr>
            <a:r>
              <a:rPr lang="en-US" sz="1300" dirty="0">
                <a:solidFill>
                  <a:schemeClr val="accent2"/>
                </a:solidFill>
                <a:latin typeface="Courier New" pitchFamily="34" charset="0"/>
                <a:ea typeface="Courier New" pitchFamily="34" charset="-122"/>
                <a:cs typeface="Courier New" pitchFamily="34" charset="-120"/>
              </a:rPr>
              <a:t>http://localhost:8080</a:t>
            </a:r>
            <a:endParaRPr lang="en-US" sz="1500" dirty="0"/>
          </a:p>
        </p:txBody>
      </p:sp>
      <p:sp>
        <p:nvSpPr>
          <p:cNvPr id="19" name="tests note"/>
          <p:cNvSpPr txBox="1"/>
          <p:nvPr/>
        </p:nvSpPr>
        <p:spPr>
          <a:xfrm>
            <a:off x="5029200" y="4023360"/>
            <a:ext cx="3657600" cy="320040"/>
          </a:xfrm>
          <a:prstGeom prst="rect">
            <a:avLst/>
          </a:prstGeom>
          <a:noFill/>
          <a:ln/>
        </p:spPr>
        <p:txBody>
          <a:bodyPr wrap="square" lIns="0" tIns="0" rIns="0" bIns="0" rtlCol="0" anchor="ctr"/>
          <a:lstStyle/>
          <a:p>
            <a:pPr indent="0" marL="0">
              <a:buNone/>
            </a:pPr>
            <a:r>
              <a:rPr lang="en-US" sz="1200" dirty="0">
                <a:solidFill>
                  <a:schemeClr val="accent5"/>
                </a:solidFill>
              </a:rPr>
              <a:t>Tests: mvn test  ·  3 JUnit tests pass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Rock Paper Scissors">
  <a:themeElements>
    <a:clrScheme name="Rock Paper Scissors">
      <a:dk1>
        <a:srgbClr val="1B1F3B"/>
      </a:dk1>
      <a:lt1>
        <a:srgbClr val="FFFFFF"/>
      </a:lt1>
      <a:dk2>
        <a:srgbClr val="4A5070"/>
      </a:dk2>
      <a:lt2>
        <a:srgbClr val="F3F4FA"/>
      </a:lt2>
      <a:accent1>
        <a:srgbClr val="FF6B57"/>
      </a:accent1>
      <a:accent2>
        <a:srgbClr val="FFB627"/>
      </a:accent2>
      <a:accent3>
        <a:srgbClr val="2EC4B6"/>
      </a:accent3>
      <a:accent4>
        <a:srgbClr val="6C63FF"/>
      </a:accent4>
      <a:accent5>
        <a:srgbClr val="C8CCE6"/>
      </a:accent5>
      <a:accent6>
        <a:srgbClr val="8E94B5"/>
      </a:accent6>
      <a:hlink>
        <a:srgbClr val="6C63FF"/>
      </a:hlink>
      <a:folHlink>
        <a:srgbClr val="8E94B5"/>
      </a:folHlink>
    </a:clrScheme>
    <a:fontScheme name="Rock Paper Scisso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Rock Paper Scissors – Java OOP Project</dc:title>
  <dc:subject>PptxGenJS Presentation</dc:subject>
  <dc:creator>PptxGenJS</dc:creator>
  <cp:lastModifiedBy>PptxGenJS</cp:lastModifiedBy>
  <cp:revision>1</cp:revision>
  <dcterms:created xsi:type="dcterms:W3CDTF">2026-10-22T14:27:54Z</dcterms:created>
  <dcterms:modified xsi:type="dcterms:W3CDTF">2026-10-22T14:27:54Z</dcterms:modified>
</cp:coreProperties>
</file>